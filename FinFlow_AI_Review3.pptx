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charts/chart1.xml" ContentType="application/vnd.openxmlformats-officedocument.drawingml.chart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charts/chart2.xml" ContentType="application/vnd.openxmlformats-officedocument.drawingml.chart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notesMasterIdLst>
    <p:notesMasterId r:id="rId3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notesMaster" Target="notesMasters/notesMaster1.xml"/><Relationship Id="rId35" Type="http://schemas.openxmlformats.org/officeDocument/2006/relationships/presProps" Target="presProps.xml"/><Relationship Id="rId36" Type="http://schemas.openxmlformats.org/officeDocument/2006/relationships/viewProps" Target="viewProps.xml"/><Relationship Id="rId37" Type="http://schemas.openxmlformats.org/officeDocument/2006/relationships/theme" Target="theme/theme1.xml"/><Relationship Id="rId3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B78"/>
                </a:solidFill>
                <a:latin typeface="Calibri"/>
              </a:rPr>
              <a:t>Allocation % of monthly capacity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Conservative</c:v>
                </c:pt>
              </c:strCache>
            </c:strRef>
          </c:tx>
          <c:spPr>
            <a:solidFill>
              <a:srgbClr val="9CC4BF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Index SIP</c:v>
                  </c:pt>
                  <c:pt idx="1">
                    <c:v>Emergency</c:v>
                  </c:pt>
                  <c:pt idx="2">
                    <c:v>Fixed Dep.</c:v>
                  </c:pt>
                  <c:pt idx="3">
                    <c:v>Gold ETF</c:v>
                  </c:pt>
                  <c:pt idx="4">
                    <c:v>Liquid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20</c:v>
                </c:pt>
                <c:pt idx="1">
                  <c:v>25</c:v>
                </c:pt>
                <c:pt idx="2">
                  <c:v>30</c:v>
                </c:pt>
                <c:pt idx="3">
                  <c:v>5</c:v>
                </c:pt>
                <c:pt idx="4">
                  <c:v>20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Balanced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Index SIP</c:v>
                  </c:pt>
                  <c:pt idx="1">
                    <c:v>Emergency</c:v>
                  </c:pt>
                  <c:pt idx="2">
                    <c:v>Fixed Dep.</c:v>
                  </c:pt>
                  <c:pt idx="3">
                    <c:v>Gold ETF</c:v>
                  </c:pt>
                  <c:pt idx="4">
                    <c:v>Liquid</c:v>
                  </c:pt>
                </c:lvl>
              </c:multiLvlStrCache>
            </c:multiLvlStrRef>
          </c:cat>
          <c:val>
            <c:numRef>
              <c:f>Sheet1!$C$2:$C$6</c:f>
              <c:numCache>
                <c:formatCode>General</c:formatCode>
                <c:ptCount val="5"/>
                <c:pt idx="0">
                  <c:v>35</c:v>
                </c:pt>
                <c:pt idx="1">
                  <c:v>15</c:v>
                </c:pt>
                <c:pt idx="2">
                  <c:v>20</c:v>
                </c:pt>
                <c:pt idx="3">
                  <c:v>10</c:v>
                </c:pt>
                <c:pt idx="4">
                  <c:v>20</c:v>
                </c:pt>
              </c:numCache>
            </c:numRef>
          </c:val>
        </c:ser>
        <c:ser>
          <c:idx val="2"/>
          <c:order val="2"/>
          <c:tx>
            <c:strRef>
              <c:f>Sheet1!$D$1</c:f>
              <c:strCache>
                <c:ptCount val="1"/>
                <c:pt idx="0">
                  <c:v>Growth</c:v>
                </c:pt>
              </c:strCache>
            </c:strRef>
          </c:tx>
          <c:spPr>
            <a:solidFill>
              <a:srgbClr val="0B1F2A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85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Index SIP</c:v>
                  </c:pt>
                  <c:pt idx="1">
                    <c:v>Emergency</c:v>
                  </c:pt>
                  <c:pt idx="2">
                    <c:v>Fixed Dep.</c:v>
                  </c:pt>
                  <c:pt idx="3">
                    <c:v>Gold ETF</c:v>
                  </c:pt>
                  <c:pt idx="4">
                    <c:v>Liquid</c:v>
                  </c:pt>
                </c:lvl>
              </c:multiLvlStrCache>
            </c:multiLvlStrRef>
          </c:cat>
          <c:val>
            <c:numRef>
              <c:f>Sheet1!$D$2:$D$6</c:f>
              <c:numCache>
                <c:formatCode>General</c:formatCode>
                <c:ptCount val="5"/>
                <c:pt idx="0">
                  <c:v>55</c:v>
                </c:pt>
                <c:pt idx="1">
                  <c:v>15</c:v>
                </c:pt>
                <c:pt idx="2">
                  <c:v>10</c:v>
                </c:pt>
                <c:pt idx="3">
                  <c:v>10</c:v>
                </c:pt>
                <c:pt idx="4">
                  <c:v>10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85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5B6B78"/>
                </a:solidFill>
                <a:latin typeface="Calibri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</c:scaling>
        <c:delete val="0"/>
        <c:axPos val="l"/>
        <c:majorGridlines>
          <c:spPr>
            <a:ln w="12700" cap="flat">
              <a:solidFill>
                <a:srgbClr val="E4ED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
              <a:latin typeface="Calibri"/>
              <a:cs typeface="Calibri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200" b="0" i="0" u="none" strike="noStrike">
                <a:solidFill>
                  <a:srgbClr val="5B6B78"/>
                </a:solidFill>
                <a:latin typeface="Calibri"/>
              </a:defRPr>
            </a:pPr>
            <a:r>
              <a:rPr sz="1200" b="0" i="0" u="none" strike="noStrike">
                <a:solidFill>
                  <a:srgbClr val="5B6B78"/>
                </a:solidFill>
                <a:latin typeface="Calibri"/>
              </a:rPr>
              <a:t>Tests per module</a:t>
            </a:r>
          </a:p>
        </c:rich>
      </c:tx>
      <c:layout/>
      <c:overlay val="0"/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Tests</c:v>
                </c:pt>
              </c:strCache>
            </c:strRef>
          </c:tx>
          <c:spPr>
            <a:solidFill>
              <a:srgbClr val="0F766E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0F172A"/>
                    </a:solidFill>
                    <a:latin typeface="Calibri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Sheet1!$A$2:$A$12</c:f>
              <c:multiLvlStrCache>
                <c:ptCount val="11"/>
                <c:lvl>
                  <c:pt idx="0">
                    <c:v>audit_regressions</c:v>
                  </c:pt>
                  <c:pt idx="1">
                    <c:v>csv_import</c:v>
                  </c:pt>
                  <c:pt idx="2">
                    <c:v>analytics</c:v>
                  </c:pt>
                  <c:pt idx="3">
                    <c:v>categorization</c:v>
                  </c:pt>
                  <c:pt idx="4">
                    <c:v>auth</c:v>
                  </c:pt>
                  <c:pt idx="5">
                    <c:v>income_derivation</c:v>
                  </c:pt>
                  <c:pt idx="6">
                    <c:v>copilot_loops</c:v>
                  </c:pt>
                  <c:pt idx="7">
                    <c:v>sessions_uploads</c:v>
                  </c:pt>
                  <c:pt idx="8">
                    <c:v>step4_finance</c:v>
                  </c:pt>
                  <c:pt idx="9">
                    <c:v>investments_not_spend</c:v>
                  </c:pt>
                  <c:pt idx="10">
                    <c:v>health</c:v>
                  </c:pt>
                </c:lvl>
              </c:multiLvlStrCache>
            </c:multiLvlStrRef>
          </c:cat>
          <c:val>
            <c:numRef>
              <c:f>Sheet1!$B$2:$B$12</c:f>
              <c:numCache>
                <c:formatCode>General</c:formatCode>
                <c:ptCount val="11"/>
                <c:pt idx="0">
                  <c:v>30</c:v>
                </c:pt>
                <c:pt idx="1">
                  <c:v>21</c:v>
                </c:pt>
                <c:pt idx="2">
                  <c:v>19</c:v>
                </c:pt>
                <c:pt idx="3">
                  <c:v>16</c:v>
                </c:pt>
                <c:pt idx="4">
                  <c:v>13</c:v>
                </c:pt>
                <c:pt idx="5">
                  <c:v>11</c:v>
                </c:pt>
                <c:pt idx="6">
                  <c:v>10</c:v>
                </c:pt>
                <c:pt idx="7">
                  <c:v>9</c:v>
                </c:pt>
                <c:pt idx="8">
                  <c:v>7</c:v>
                </c:pt>
                <c:pt idx="9">
                  <c:v>6</c:v>
                </c:pt>
                <c:pt idx="10">
                  <c:v>1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000" u="none">
                  <a:solidFill>
                    <a:srgbClr val="0F172A"/>
                  </a:solidFill>
                  <a:latin typeface="Calibri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axMin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50" b="0" i="0" u="none" strike="noStrike">
                <a:solidFill>
                  <a:srgbClr val="0F172A"/>
                </a:solidFill>
                <a:latin typeface="Courier New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5"/>
        </c:scaling>
        <c:delete val="0"/>
        <c:axPos val="b"/>
        <c:majorGridlines>
          <c:spPr>
            <a:ln w="12700" cap="flat">
              <a:solidFill>
                <a:srgbClr val="E4EDEB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900" b="0" i="0" u="none" strike="noStrike">
                <a:solidFill>
                  <a:srgbClr val="5B6B78"/>
                </a:solidFill>
                <a:latin typeface="Calibri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Review 3 covers two areas: the algorithms chosen to solve the problem, and how the system was implemented and tested.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Argon2id is memory-hard: it needs lots of RAM per hash, which removes the GPU advantage attackers rely on. We also rehash on login so parameters can be strengthened over time.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cascade normalises every bank format into one invariant: expenses negative, income positive. One malformed row never fails the whole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core optimisation. Aggregation runs inside MongoDB as a pipeline, so only one result document crosses the network instead of every transaction.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 question: why avalanche not snowball? Avalanche minimises total interest paid and is mathematically optimal. Snowball is motivating but strictly more expensive.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 question: how do you stop the AI inventing numbers? It has no access to figures except through tool calls that run real aggregation pipelines. The loop allows 5 tool rounds, then a forced answer round with no tools. Providers: Groq openai/gpt-oss-120b and Anthropic claude-opus-5.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slide shows testing did real work. Nine genuine defects, each with root cause and fix. The cascading auth bugs and the silent form-validation failure are the most instructive.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Round two was a full audit after the MongoDB migration. Most defects were numerical: nothing crashed, but savings, allocations and rates were wrong. Every one of them now has a regression test.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572000"/>
            <a:ext cx="3291840" cy="3291840"/>
          </a:xfrm>
          <a:prstGeom prst="ellipse">
            <a:avLst/>
          </a:prstGeom>
          <a:solidFill>
            <a:srgbClr val="0F766E">
              <a:alpha val="18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51592" y="5212080"/>
            <a:ext cx="2011680" cy="20116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1481328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4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3  ·  20-08-2026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874520"/>
            <a:ext cx="11055096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FinFlow AI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66928" y="2944368"/>
            <a:ext cx="7863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B9CBD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personal financial copilot for Indian salaried professionals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566928" y="3767328"/>
            <a:ext cx="1371600" cy="25603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8" name="Text 6"/>
          <p:cNvSpPr/>
          <p:nvPr/>
        </p:nvSpPr>
        <p:spPr>
          <a:xfrm>
            <a:off x="566928" y="4023360"/>
            <a:ext cx="8595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Algorithms used to overcome the problem   ·   Implementation and testing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566928" y="5742432"/>
            <a:ext cx="54864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Kuppili Nikhilesh Raju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problem being solved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71600"/>
            <a:ext cx="102412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Salaried individuals in India have their financial life scattered across bank SMS, PDF statements and spreadsheets. Three concrete problems follow from that: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66928" y="2057400"/>
            <a:ext cx="3401568" cy="1874520"/>
          </a:xfrm>
          <a:prstGeom prst="roundRect">
            <a:avLst>
              <a:gd name="adj" fmla="val 439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41248" y="2286000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41248" y="281635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No consolidated view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841248" y="31546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Spending is spread across accounts, so overspending is discovered only after the fact.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261104" y="2057400"/>
            <a:ext cx="3401568" cy="1874520"/>
          </a:xfrm>
          <a:prstGeom prst="roundRect">
            <a:avLst>
              <a:gd name="adj" fmla="val 439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535424" y="2286000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4535424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4535424" y="281635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categorisation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4535424" y="31546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Tagging hundreds of transactions by hand is tedious and abandoned quickly.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7955280" y="2057400"/>
            <a:ext cx="3401568" cy="1874520"/>
          </a:xfrm>
          <a:prstGeom prst="roundRect">
            <a:avLst>
              <a:gd name="adj" fmla="val 439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0" y="2286000"/>
            <a:ext cx="420624" cy="420624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0" y="228600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0" y="2816352"/>
            <a:ext cx="285292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Generic advice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8229600" y="3154680"/>
            <a:ext cx="2852928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 guidance is not grounded in the user's actual numbers.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315968"/>
            <a:ext cx="11055096" cy="749808"/>
          </a:xfrm>
          <a:prstGeom prst="roundRect">
            <a:avLst>
              <a:gd name="adj" fmla="val 9756"/>
            </a:avLst>
          </a:prstGeom>
          <a:solidFill>
            <a:srgbClr val="0B1F2A"/>
          </a:solidFill>
          <a:ln/>
        </p:spPr>
      </p:sp>
      <p:sp>
        <p:nvSpPr>
          <p:cNvPr id="21" name="Text 19"/>
          <p:cNvSpPr/>
          <p:nvPr/>
        </p:nvSpPr>
        <p:spPr>
          <a:xfrm>
            <a:off x="877824" y="4315968"/>
            <a:ext cx="10433304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goal:  </a:t>
            </a:r>
            <a:pPr indent="0" marL="0">
              <a:buNone/>
            </a:pPr>
            <a:r>
              <a:rPr lang="en-US" sz="145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insight is computed from the user's own transaction data — even monthly income is derived from the imported salary credits.</a:t>
            </a:r>
            <a:endParaRPr lang="en-US" sz="1450" dirty="0"/>
          </a:p>
        </p:txBody>
      </p:sp>
      <p:sp>
        <p:nvSpPr>
          <p:cNvPr id="22" name="Text 20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OVERVIEW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 algorithms across six layers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481328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719072"/>
            <a:ext cx="2487168" cy="43891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719072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529584" y="1481328"/>
            <a:ext cx="7763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password hashing  ·  JWT HS256 authentication with server-side revocation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66928" y="2496312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804672" y="2734056"/>
            <a:ext cx="2487168" cy="438912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</p:sp>
      <p:sp>
        <p:nvSpPr>
          <p:cNvPr id="10" name="Text 8"/>
          <p:cNvSpPr/>
          <p:nvPr/>
        </p:nvSpPr>
        <p:spPr>
          <a:xfrm>
            <a:off x="804672" y="2734056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ingestion</a:t>
            </a:r>
            <a:endParaRPr lang="en-US" sz="1250" dirty="0"/>
          </a:p>
        </p:txBody>
      </p:sp>
      <p:sp>
        <p:nvSpPr>
          <p:cNvPr id="11" name="Text 9"/>
          <p:cNvSpPr/>
          <p:nvPr/>
        </p:nvSpPr>
        <p:spPr>
          <a:xfrm>
            <a:off x="3529584" y="2496312"/>
            <a:ext cx="7763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parsing &amp; sign normalisation  ·  Whole-word categorisation  ·  Duplicate fingerprinting  ·  Income derivation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66928" y="3511296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804672" y="3749040"/>
            <a:ext cx="2487168" cy="43891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" y="3749040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(pipelines)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3529584" y="3511296"/>
            <a:ext cx="7763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aggregation  ·  Recurring detection  ·  Budget alerts  ·  Category breakdown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566928" y="4526280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804672" y="4764024"/>
            <a:ext cx="2487168" cy="438912"/>
          </a:xfrm>
          <a:prstGeom prst="roundRect">
            <a:avLst>
              <a:gd name="adj" fmla="val 50000"/>
            </a:avLst>
          </a:prstGeom>
          <a:solidFill>
            <a:srgbClr val="0B1F2A"/>
          </a:solidFill>
          <a:ln/>
        </p:spPr>
      </p:sp>
      <p:sp>
        <p:nvSpPr>
          <p:cNvPr id="18" name="Text 16"/>
          <p:cNvSpPr/>
          <p:nvPr/>
        </p:nvSpPr>
        <p:spPr>
          <a:xfrm>
            <a:off x="804672" y="4764024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Financial planning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3529584" y="4526280"/>
            <a:ext cx="7763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Debt avalanche  ·  Salary allocation waterfall  ·  Risk-based investment split  ·  Emergency-fund gap</a:t>
            </a:r>
            <a:endParaRPr lang="en-US" sz="1250" dirty="0"/>
          </a:p>
        </p:txBody>
      </p:sp>
      <p:sp>
        <p:nvSpPr>
          <p:cNvPr id="20" name="Shape 18"/>
          <p:cNvSpPr/>
          <p:nvPr/>
        </p:nvSpPr>
        <p:spPr>
          <a:xfrm>
            <a:off x="566928" y="5541264"/>
            <a:ext cx="11055096" cy="914400"/>
          </a:xfrm>
          <a:prstGeom prst="roundRect">
            <a:avLst>
              <a:gd name="adj" fmla="val 9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04672" y="5779008"/>
            <a:ext cx="2487168" cy="438912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5779008"/>
            <a:ext cx="24871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 +  cross-cutting</a:t>
            </a:r>
            <a:endParaRPr lang="en-US" sz="1250" dirty="0"/>
          </a:p>
        </p:txBody>
      </p:sp>
      <p:sp>
        <p:nvSpPr>
          <p:cNvPr id="23" name="Text 21"/>
          <p:cNvSpPr/>
          <p:nvPr/>
        </p:nvSpPr>
        <p:spPr>
          <a:xfrm>
            <a:off x="3529584" y="5541264"/>
            <a:ext cx="77632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tool-calling loop with forced final answer  ·  Decimal128 fixed-point arithmetic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572000"/>
            <a:ext cx="3291840" cy="3291840"/>
          </a:xfrm>
          <a:prstGeom prst="ellipse">
            <a:avLst/>
          </a:prstGeom>
          <a:solidFill>
            <a:srgbClr val="0F766E">
              <a:alpha val="18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51592" y="5212080"/>
            <a:ext cx="2011680" cy="20116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2860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A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1055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Algorithms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566928" y="3767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 ·  Ingestion  ·  Analytics  ·  Planning  ·  AI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  ·  SECURITY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Argon2id password hashing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plain or weakly-hashed passwords are recoverable if the database leaks.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5623560" cy="2788920"/>
          </a:xfrm>
          <a:prstGeom prst="roundRect">
            <a:avLst>
              <a:gd name="adj" fmla="val 2951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938528"/>
            <a:ext cx="5074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memory-hard?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286000"/>
            <a:ext cx="5074920" cy="15727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Argon2id deliberately consumes a large amount of RAM per hash. GPUs and ASICs parallelise arithmetic cheaply, but cannot cheaply replicate memory — so the attacker's hardware advantage disappears.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Winner of the 2015 Password Hashing Competition and the current OWASP recommendation.</a:t>
            </a:r>
            <a:endParaRPr lang="en-US" sz="1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46520" y="1773936"/>
          <a:ext cx="5175504" cy="914400"/>
        </p:xfrm>
        <a:graphic>
          <a:graphicData uri="http://schemas.openxmlformats.org/drawingml/2006/table">
            <a:tbl>
              <a:tblPr/>
              <a:tblGrid>
                <a:gridCol w="1481328"/>
                <a:gridCol w="1207008"/>
                <a:gridCol w="2487168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Parameter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Value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time_cost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Iteration count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memory_cost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65536 KB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64 MB — above OWASP min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parallelism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Threads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hash_len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32 bytes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Digest size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salt_len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bytes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per password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791456"/>
            <a:ext cx="11055096" cy="9144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59536" y="4791456"/>
            <a:ext cx="104698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Transparent rehashing. 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every successful login the stored hash is checked with 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check_needs_rehash()</a:t>
            </a:r>
            <a:pPr indent="0" marL="0">
              <a:buNone/>
            </a:pPr>
            <a:r>
              <a:rPr lang="en-US" sz="12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. If the parameters have since been strengthened, the password is silently re-hashed with the new settings — security improves without forcing a password reset.</a:t>
            </a:r>
            <a:endParaRPr lang="en-US" sz="1250" dirty="0"/>
          </a:p>
        </p:txBody>
      </p:sp>
      <p:sp>
        <p:nvSpPr>
          <p:cNvPr id="11" name="Text 8"/>
          <p:cNvSpPr/>
          <p:nvPr/>
        </p:nvSpPr>
        <p:spPr>
          <a:xfrm>
            <a:off x="566928" y="5833872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Migrated from PBKDF2 during the security overhaul.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2  ·  SECURITY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JWT authentication with revocation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server sessions need shared state — but a purely stateless token cannot be withdrawn when the user signs out.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5623560" cy="1920240"/>
          </a:xfrm>
          <a:prstGeom prst="roundRect">
            <a:avLst>
              <a:gd name="adj" fmla="val 2381"/>
            </a:avLst>
          </a:prstGeom>
          <a:solidFill>
            <a:srgbClr val="0B1F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83664"/>
            <a:ext cx="5330952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payload = { sub: &lt;email&gt;, iat: &lt;issued at&gt;,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exp: &lt;issued + 24h&gt;,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jti: &lt;random 128-bit id&gt; }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token = b64(header).b64(payload)</a:t>
            </a:r>
            <a:endParaRPr lang="en-US" sz="1100" dirty="0"/>
          </a:p>
          <a:p>
            <a:pPr indent="0" marL="0">
              <a:lnSpc>
                <a:spcPts val="1562"/>
              </a:lnSpc>
              <a:buNone/>
            </a:pPr>
            <a:r>
              <a:rPr lang="en-US" sz="11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.HMAC_SHA256(secret, …)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46520" y="1773936"/>
            <a:ext cx="517550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Verification steps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6446520" y="2212848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9" name="Text 7"/>
          <p:cNvSpPr/>
          <p:nvPr/>
        </p:nvSpPr>
        <p:spPr>
          <a:xfrm>
            <a:off x="6446520" y="221284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6858000" y="2176272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Recompute the HMAC with the server secret; reject on mismatch (forgery)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446520" y="2779776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6446520" y="27797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858000" y="2743200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 sub, exp and iat; reject if exp has passed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6446520" y="3346704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6446520" y="334670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6858000" y="3310128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Reject if jti is in revoked_tokens — "Session has been signed out"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446520" y="3913632"/>
            <a:ext cx="292608" cy="292608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446520" y="391363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858000" y="3877056"/>
            <a:ext cx="4754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 the user identified by sub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3968496"/>
            <a:ext cx="5623560" cy="969264"/>
          </a:xfrm>
          <a:prstGeom prst="roundRect">
            <a:avLst>
              <a:gd name="adj" fmla="val 7547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22960" y="3968496"/>
            <a:ext cx="5120640" cy="96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Logout.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/auth/logout stores { jti, expires_at }. A MongoDB TTL index deletes each entry when the token would have expired anyway — the deny-list never grows.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6446520" y="4535424"/>
            <a:ext cx="5175504" cy="822960"/>
          </a:xfrm>
          <a:prstGeom prst="roundRect">
            <a:avLst>
              <a:gd name="adj" fmla="val 8889"/>
            </a:avLst>
          </a:prstGeom>
          <a:solidFill>
            <a:srgbClr val="0B1F2A"/>
          </a:solidFill>
          <a:ln/>
        </p:spPr>
      </p:sp>
      <p:sp>
        <p:nvSpPr>
          <p:cNvPr id="23" name="Text 21"/>
          <p:cNvSpPr/>
          <p:nvPr/>
        </p:nvSpPr>
        <p:spPr>
          <a:xfrm>
            <a:off x="6684264" y="4535424"/>
            <a:ext cx="470001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session.  </a:t>
            </a:r>
            <a:pPr indent="0" marL="0">
              <a:buNone/>
            </a:pPr>
            <a:r>
              <a:rPr lang="en-US" sz="115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Signing out on one device leaves the others signed in; verification stays one indexed lookup.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6928" y="5084064"/>
            <a:ext cx="5623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 note: migrated from the unmaintained python-jose to PyJWT.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3  ·  INGESTION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CSV parsing &amp; sign normalisation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every bank exports a different format. Some mark debits with a type column, some with negative amounts, some with neither.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6126480" cy="2697480"/>
          </a:xfrm>
          <a:prstGeom prst="roundRect">
            <a:avLst>
              <a:gd name="adj" fmla="val 1695"/>
            </a:avLst>
          </a:prstGeom>
          <a:solidFill>
            <a:srgbClr val="0B1F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83664"/>
            <a:ext cx="5833872" cy="24780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type ∈ {debit,expense,dr} → ("expense", −|amt|)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type ∈ {credit,income,cr} → ("income",  +|amt|)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type == transfer          → ("transfer", amt)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no usable type → infer from sign: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amt &gt; 0  → ("income",  amt)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amt ≤ 0  → ("expense", amt)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Also applied to manually entered transactions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66928" y="4626864"/>
            <a:ext cx="6126480" cy="914400"/>
          </a:xfrm>
          <a:prstGeom prst="roundRect">
            <a:avLst>
              <a:gd name="adj" fmla="val 8000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/>
          <p:nvPr/>
        </p:nvSpPr>
        <p:spPr>
          <a:xfrm>
            <a:off x="822960" y="4626864"/>
            <a:ext cx="561441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Invariant established:  </a:t>
            </a:r>
            <a:pPr indent="0" marL="0">
              <a:buNone/>
            </a:pPr>
            <a:r>
              <a:rPr lang="en-US" sz="120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parsing, expenses are always negative and income always positive. Every downstream analytic depends on this.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6995160" y="1773936"/>
            <a:ext cx="46268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Robustness handling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995160" y="2194560"/>
            <a:ext cx="4626864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BOM stripped; headers trimmed and lower-cased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₹, Rs., INR and Indian commas removed (1,25,000 → 125000); (500) → −500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NaN, Infinity and absurd amounts rejected; rounded to paise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and Indian day-first dates (01/06/2026, 01-06-2026, 01.06.2026)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MB upload limit (HTTP 413)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Partial success — bad rows reported, valid rows import</a:t>
            </a:r>
            <a:endParaRPr lang="en-US" sz="12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All-or-nothing insert — a failure part-way deletes what was written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4  ·  INGESTION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Whole-word keyword categorisation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users will not manually tag hundreds of transactions.  58 keywords · 9 categories · ordered first match.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669280" cy="1874520"/>
          </a:xfrm>
          <a:prstGeom prst="roundRect">
            <a:avLst>
              <a:gd name="adj" fmla="val 2439"/>
            </a:avLst>
          </a:prstGeom>
          <a:solidFill>
            <a:srgbClr val="0B1F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47088"/>
            <a:ext cx="5376672" cy="1655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specific bank category → keep it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searchable = lower(description + merchant)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for pattern, category in PATTERNS: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if pattern matches → category</a:t>
            </a:r>
            <a:endParaRPr lang="en-US" sz="1050" dirty="0"/>
          </a:p>
          <a:p>
            <a:pPr indent="0" marL="0">
              <a:lnSpc>
                <a:spcPts val="1491"/>
              </a:lnSpc>
              <a:buNone/>
            </a:pPr>
            <a:r>
              <a:rPr lang="en-US" sz="10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else → Salary/Income if credit, else Other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566928" y="3749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Substring matching → whole words  \bsip(?:s|es)?\b</a:t>
            </a:r>
            <a:endParaRPr lang="en-US" sz="12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078224"/>
          <a:ext cx="5669280" cy="914400"/>
        </p:xfrm>
        <a:graphic>
          <a:graphicData uri="http://schemas.openxmlformats.org/drawingml/2006/table">
            <a:tbl>
              <a:tblPr/>
              <a:tblGrid>
                <a:gridCol w="2286000"/>
                <a:gridCol w="1874520"/>
                <a:gridCol w="1508760"/>
              </a:tblGrid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Transaction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Substring hit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 word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Insurance premium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EMI/Loan (emi)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match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Coca cola crate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Transport (ola)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match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Current account charges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Bills (rent)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match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4747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SIPs (plural)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 ✓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Text 6"/>
          <p:cNvSpPr/>
          <p:nvPr/>
        </p:nvSpPr>
        <p:spPr>
          <a:xfrm>
            <a:off x="6537960" y="1737360"/>
            <a:ext cx="50840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Why rule-based, not machine learning?</a:t>
            </a:r>
            <a:endParaRPr lang="en-US" sz="1700" dirty="0"/>
          </a:p>
        </p:txBody>
      </p:sp>
      <p:graphicFrame>
        <p:nvGraphicFramePr>
          <p:cNvPr id="17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2194560"/>
          <a:ext cx="5084064" cy="914400"/>
        </p:xfrm>
        <a:graphic>
          <a:graphicData uri="http://schemas.openxmlformats.org/drawingml/2006/table">
            <a:tbl>
              <a:tblPr/>
              <a:tblGrid>
                <a:gridCol w="2542032"/>
                <a:gridCol w="2542032"/>
              </a:tblGrid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Rule-based (chosen)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ML classifier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Deterministic, explainable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Probabilistic, opaque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training data needed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Needs labelled corpus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Instant, no inference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Latency + compute cost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846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Extend with one dict entry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Requires retraining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6537960" y="4791456"/>
            <a:ext cx="5084064" cy="1097280"/>
          </a:xfrm>
          <a:prstGeom prst="roundRect">
            <a:avLst>
              <a:gd name="adj" fmla="val 6667"/>
            </a:avLst>
          </a:prstGeom>
          <a:solidFill>
            <a:srgbClr val="F2F6F5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2" name="Text 8"/>
          <p:cNvSpPr/>
          <p:nvPr/>
        </p:nvSpPr>
        <p:spPr>
          <a:xfrm>
            <a:off x="6793992" y="4791456"/>
            <a:ext cx="45720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 keywords (SIP, ELSS, mutual fund, PPF, NPS, Groww, Zerodha) are checked first, so savings are never claimed by a broader keyword.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4" name="Text 10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5  ·  INGESTION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Duplicate detection &amp; income derivation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re-uploaded statements duplicate rows and corrupt totals — and income typed in at sign-up goes stale.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6675120" cy="2468880"/>
          </a:xfrm>
          <a:prstGeom prst="roundRect">
            <a:avLst>
              <a:gd name="adj" fmla="val 1852"/>
            </a:avLst>
          </a:prstGeom>
          <a:solidFill>
            <a:srgbClr val="0B1F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83664"/>
            <a:ext cx="638251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fingerprint(row) = ( transaction_date,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lower(trim(description)),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lower(trim(merchant)),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 round(amount, 2) )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seen = { fingerprint(t) for t in existing }   # O(N)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row in incoming:                          # O(M)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fingerprint(row) in seen: skip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else: import; seen.add(fingerprint(row))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7498080" y="1773936"/>
            <a:ext cx="4123944" cy="1371600"/>
          </a:xfrm>
          <a:prstGeom prst="roundRect">
            <a:avLst>
              <a:gd name="adj" fmla="val 6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7754112" y="190195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Complexity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7754112" y="2157984"/>
            <a:ext cx="3611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O(N + M)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7754112" y="2542032"/>
            <a:ext cx="3611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O(N × M) for pairwise comparison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3273552"/>
            <a:ext cx="4123944" cy="969264"/>
          </a:xfrm>
          <a:prstGeom prst="roundRect">
            <a:avLst>
              <a:gd name="adj" fmla="val 8491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54112" y="3346704"/>
            <a:ext cx="3611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Also de-duplicates in-batch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7754112" y="3621024"/>
            <a:ext cx="36118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seen.add() in the loop removes duplicates within one uploaded file too.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425696"/>
            <a:ext cx="11055096" cy="1426464"/>
          </a:xfrm>
          <a:prstGeom prst="roundRect">
            <a:avLst>
              <a:gd name="adj" fmla="val 5128"/>
            </a:avLst>
          </a:prstGeom>
          <a:solidFill>
            <a:srgbClr val="F2F6F5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41248" y="453542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Income derivation</a:t>
            </a:r>
            <a:endParaRPr lang="en-US" sz="1500" dirty="0"/>
          </a:p>
        </p:txBody>
      </p:sp>
      <p:sp>
        <p:nvSpPr>
          <p:cNvPr id="16" name="Text 14"/>
          <p:cNvSpPr/>
          <p:nvPr/>
        </p:nvSpPr>
        <p:spPr>
          <a:xfrm>
            <a:off x="841248" y="4828032"/>
            <a:ext cx="10506456" cy="9509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monthly_income = average income of the 3 most recent months that contain income</a:t>
            </a:r>
            <a:endParaRPr lang="en-US" sz="11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month still waiting for salary does not drag the average down · recomputed after each import and on login · never overwritten with 0 · seeds the emergency target (3 × income) only if the user has not set one.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6  ·  ANALYTICS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Conditional aggregation pipeline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658368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C2740B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658368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108813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looping over every transaction in application code costs O(N) memory and transfer on every dashboard load.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773936"/>
            <a:ext cx="6675120" cy="2999232"/>
          </a:xfrm>
          <a:prstGeom prst="roundRect">
            <a:avLst>
              <a:gd name="adj" fmla="val 1524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83664"/>
            <a:ext cx="6382512" cy="2779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db.transactions.aggregate([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$match: { user_id: uid, transaction_type: { $ne: 'transfer' },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transaction_date: { $gte: start, $lt: end } } },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$group: { _id: null,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income:   { $sum: { $cond: [isIncome, '$amount', 0] } },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expense:  { $sum: { $cond: [isSpend, { $abs: '$amount' }, 0] } },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invested: { $sum: { $cond: [isInvestment, { $abs: '$amount' }, 0] } }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} } ])</a:t>
            </a:r>
            <a:endParaRPr lang="en-US" sz="1000" dirty="0"/>
          </a:p>
          <a:p>
            <a:pPr indent="0" marL="0">
              <a:lnSpc>
                <a:spcPts val="1420"/>
              </a:lnSpc>
              <a:buNone/>
            </a:pPr>
            <a:r>
              <a:rPr lang="en-US" sz="10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isSpend = expense AND category ≠ 'Investments'</a:t>
            </a:r>
            <a:endParaRPr lang="en-US" sz="10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98080" y="1773936"/>
          <a:ext cx="4123944" cy="914400"/>
        </p:xfrm>
        <a:graphic>
          <a:graphicData uri="http://schemas.openxmlformats.org/drawingml/2006/table">
            <a:tbl>
              <a:tblPr/>
              <a:tblGrid>
                <a:gridCol w="1417320"/>
                <a:gridCol w="1243584"/>
                <a:gridCol w="1463040"/>
              </a:tblGrid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loop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Pipeline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Documents sent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result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Application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 engine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Memory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6692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used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None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(user_id, date)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566928" y="4974336"/>
            <a:ext cx="6675120" cy="877824"/>
          </a:xfrm>
          <a:prstGeom prst="roundRect">
            <a:avLst>
              <a:gd name="adj" fmla="val 8333"/>
            </a:avLst>
          </a:prstGeom>
          <a:solidFill>
            <a:srgbClr val="F2F6F5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22960" y="4974336"/>
            <a:ext cx="61630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Investments are not spending.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SIP is money the user kept. Counting it as spend showed disciplined savers a negative savings rate — it is now reported separately as "invested".</a:t>
            </a:r>
            <a:endParaRPr lang="en-US" sz="1150" dirty="0"/>
          </a:p>
        </p:txBody>
      </p:sp>
      <p:sp>
        <p:nvSpPr>
          <p:cNvPr id="12" name="Text 9"/>
          <p:cNvSpPr/>
          <p:nvPr/>
        </p:nvSpPr>
        <p:spPr>
          <a:xfrm>
            <a:off x="7498080" y="4974336"/>
            <a:ext cx="4123944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 pass: income, spend and invested come from one $group, not three queries. The date range lets the compound index do the filtering.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7  ·  ANALYTICS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Recurring payment detection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identify subscriptions and silent recurring drains — the classic unused-subscription wealth leak.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6675120" cy="2743200"/>
          </a:xfrm>
          <a:prstGeom prst="roundRect">
            <a:avLst>
              <a:gd name="adj" fmla="val 1667"/>
            </a:avLst>
          </a:prstGeom>
          <a:solidFill>
            <a:srgbClr val="0B1F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83664"/>
            <a:ext cx="638251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$match: { user_id: uid, transaction_type: 'expense' }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$group: { _id: { merchant: { $toLower: merchant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category: '$category'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count: { $sum: 1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avg_amount: { $avg: { $abs: '$amount' }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months: { $addToSet: month } }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$match: { $or: [ { count: { $gte: 2 } },     // HAVING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{ 'months.1': { $exists: true } } ] }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{ $sort: { avg_amount: -1 } }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7498080" y="1773936"/>
            <a:ext cx="41239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Two-condition heuristic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7498080" y="2194560"/>
            <a:ext cx="4123944" cy="1005840"/>
          </a:xfrm>
          <a:prstGeom prst="roundRect">
            <a:avLst>
              <a:gd name="adj" fmla="val 8182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7735824" y="2286000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 ≥ 2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35824" y="2560320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repeatedly — e.g. two Netflix charges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0" y="3328416"/>
            <a:ext cx="4123944" cy="1005840"/>
          </a:xfrm>
          <a:prstGeom prst="roundRect">
            <a:avLst>
              <a:gd name="adj" fmla="val 8182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7735824" y="34198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≥ 2 distinct months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35824" y="3694176"/>
            <a:ext cx="36576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Appears across separate months — catches a monthly bill billed once per month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566928" y="4700016"/>
            <a:ext cx="6675120" cy="822960"/>
          </a:xfrm>
          <a:prstGeom prst="roundRect">
            <a:avLst>
              <a:gd name="adj" fmla="val 8889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22960" y="4700016"/>
            <a:ext cx="616305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Normalisation. </a:t>
            </a:r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$toLower merges "NETFLIX" and "netflix". Expenses only — listing the salary credit made the copilot call income a subscription.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8  ·  ANALYTICS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Budget alert classification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warn the user before a budget is blown, not after.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35661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9050">
            <a:solidFill>
              <a:srgbClr val="0A7C55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011680"/>
            <a:ext cx="274320" cy="274320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7" name="Text 5"/>
          <p:cNvSpPr/>
          <p:nvPr/>
        </p:nvSpPr>
        <p:spPr>
          <a:xfrm>
            <a:off x="1188720" y="195681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7C55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safe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822960" y="23591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&lt; 80%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822960" y="256032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track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416552" y="1737360"/>
            <a:ext cx="35661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9050">
            <a:solidFill>
              <a:srgbClr val="C2740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672584" y="2011680"/>
            <a:ext cx="274320" cy="274320"/>
          </a:xfrm>
          <a:prstGeom prst="ellipse">
            <a:avLst/>
          </a:prstGeom>
          <a:solidFill>
            <a:srgbClr val="C2740B"/>
          </a:solidFill>
          <a:ln/>
        </p:spPr>
      </p:sp>
      <p:sp>
        <p:nvSpPr>
          <p:cNvPr id="12" name="Text 10"/>
          <p:cNvSpPr/>
          <p:nvPr/>
        </p:nvSpPr>
        <p:spPr>
          <a:xfrm>
            <a:off x="5038344" y="195681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2740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warning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4672584" y="23591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usage ≥ 80%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672584" y="256032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Early warning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8266176" y="1737360"/>
            <a:ext cx="3566160" cy="1225296"/>
          </a:xfrm>
          <a:prstGeom prst="roundRect">
            <a:avLst>
              <a:gd name="adj" fmla="val 6716"/>
            </a:avLst>
          </a:prstGeom>
          <a:solidFill>
            <a:srgbClr val="FFFFFF"/>
          </a:solidFill>
          <a:ln w="19050">
            <a:solidFill>
              <a:srgbClr val="D01843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22208" y="2011680"/>
            <a:ext cx="274320" cy="274320"/>
          </a:xfrm>
          <a:prstGeom prst="ellipse">
            <a:avLst/>
          </a:prstGeom>
          <a:solidFill>
            <a:srgbClr val="D01843"/>
          </a:solidFill>
          <a:ln/>
        </p:spPr>
      </p:sp>
      <p:sp>
        <p:nvSpPr>
          <p:cNvPr id="17" name="Text 15"/>
          <p:cNvSpPr/>
          <p:nvPr/>
        </p:nvSpPr>
        <p:spPr>
          <a:xfrm>
            <a:off x="8887968" y="1956816"/>
            <a:ext cx="268833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D0184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overspent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8522208" y="2359152"/>
            <a:ext cx="3054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&lt; 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8522208" y="2560320"/>
            <a:ext cx="30540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 breached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200400"/>
            <a:ext cx="6675120" cy="2468880"/>
          </a:xfrm>
          <a:prstGeom prst="roundRect">
            <a:avLst>
              <a:gd name="adj" fmla="val 1852"/>
            </a:avLst>
          </a:prstGeom>
          <a:solidFill>
            <a:srgbClr val="0B1F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310128"/>
            <a:ext cx="6382512" cy="22494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db.budgets.aggregate([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$match: { user_id: uid }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{ $lookup: { from: 'transactions', as: 'spend',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let: { cat: '$category'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pipeline: [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$match: { same user, category = $$cat,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  type = 'expense', date in month } },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{ $group: { _id: null, spent: { $sum: { $abs: '$amount' } } } }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] } } ])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498080" y="3200400"/>
            <a:ext cx="4123944" cy="1170432"/>
          </a:xfrm>
          <a:prstGeom prst="roundRect">
            <a:avLst>
              <a:gd name="adj" fmla="val 7031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735824" y="3200400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left join ($lookup)?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budget with no spending still comes through with an empty spend array and shows ₹0 used. An inner join would hide new budgets.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7498080" y="4498848"/>
            <a:ext cx="4123944" cy="1170432"/>
          </a:xfrm>
          <a:prstGeom prst="roundRect">
            <a:avLst>
              <a:gd name="adj" fmla="val 7031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735824" y="4498848"/>
            <a:ext cx="3657600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budget per category.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Enforced case-insensitively — two Food budgets counted the same spend and made alerts contradict each other.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9  ·  PLANNING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Debt avalanche prioritisation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with several loans, which should receive surplus money first?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557784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22225">
            <a:solidFill>
              <a:srgbClr val="0F766E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841248" y="1865376"/>
            <a:ext cx="5029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Avalanche  — chosen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41248" y="2194560"/>
            <a:ext cx="502920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highest interest rate first  ·  optimises minimum total interest paid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6327648" y="1737360"/>
            <a:ext cx="5294376" cy="1463040"/>
          </a:xfrm>
          <a:prstGeom prst="roundRect">
            <a:avLst>
              <a:gd name="adj" fmla="val 5625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6583680" y="1865376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5B6B78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Snowball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6583680" y="2194560"/>
            <a:ext cx="4754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by smallest balance first  ·  optimises psychological quick wins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66928" y="3419856"/>
            <a:ext cx="5577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566928" y="3822192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3" name="Text 11"/>
          <p:cNvSpPr/>
          <p:nvPr/>
        </p:nvSpPr>
        <p:spPr>
          <a:xfrm>
            <a:off x="566928" y="38221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950976" y="3785616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 the minimum EMI on every account (avoids default)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566928" y="4334256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433425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950976" y="4297680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Sort accounts by interest_rate DESC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846320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4846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950976" y="4809744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Direct all surplus cash to accounts[0]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566928" y="5358384"/>
            <a:ext cx="274320" cy="274320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2" name="Text 20"/>
          <p:cNvSpPr/>
          <p:nvPr/>
        </p:nvSpPr>
        <p:spPr>
          <a:xfrm>
            <a:off x="566928" y="535838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950976" y="5321808"/>
            <a:ext cx="517550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it clears, roll that payment into the next account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6327648" y="3419856"/>
            <a:ext cx="5294376" cy="1316736"/>
          </a:xfrm>
          <a:prstGeom prst="roundRect">
            <a:avLst>
              <a:gd name="adj" fmla="val 5556"/>
            </a:avLst>
          </a:prstGeom>
          <a:solidFill>
            <a:srgbClr val="0B1F2A"/>
          </a:solidFill>
          <a:ln/>
        </p:spPr>
      </p:sp>
      <p:sp>
        <p:nvSpPr>
          <p:cNvPr id="25" name="Text 23"/>
          <p:cNvSpPr/>
          <p:nvPr/>
        </p:nvSpPr>
        <p:spPr>
          <a:xfrm>
            <a:off x="6583680" y="3419856"/>
            <a:ext cx="4782312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Justification.  </a:t>
            </a:r>
            <a:pPr indent="0" marL="0">
              <a:buNone/>
            </a:pPr>
            <a:r>
              <a:rPr lang="en-US" sz="120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is mathematically optimal — interest accrues fastest on the highest-rate balance, so every rupee sent there removes the most future interest.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6327648" y="4882896"/>
            <a:ext cx="5294376" cy="1042416"/>
          </a:xfrm>
          <a:prstGeom prst="roundRect">
            <a:avLst>
              <a:gd name="adj" fmla="val 4386"/>
            </a:avLst>
          </a:prstGeom>
          <a:solidFill>
            <a:srgbClr val="0B1F2A"/>
          </a:solidFill>
          <a:ln/>
        </p:spPr>
      </p:sp>
      <p:sp>
        <p:nvSpPr>
          <p:cNvPr id="27" name="Text 25"/>
          <p:cNvSpPr/>
          <p:nvPr/>
        </p:nvSpPr>
        <p:spPr>
          <a:xfrm>
            <a:off x="6473952" y="4992624"/>
            <a:ext cx="5001768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interest  = remaining × annual_rate / 12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principal = EMI − interest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= max(remaining − principal, 0)</a:t>
            </a:r>
            <a:endParaRPr lang="en-US" sz="900" dirty="0"/>
          </a:p>
          <a:p>
            <a:pPr indent="0" marL="0">
              <a:lnSpc>
                <a:spcPts val="1278"/>
              </a:lnSpc>
              <a:buNone/>
            </a:pPr>
            <a:r>
              <a:rPr lang="en-US" sz="9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EMI ≤ interest → warn "EMI does not cover interest"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9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10  ·  PLANNING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Salary allocation waterfall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split incoming salary into purposeful buckets before discretionary spending starts — a pay-yourself-first system.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37360"/>
            <a:ext cx="6446520" cy="2926080"/>
          </a:xfrm>
          <a:prstGeom prst="roundRect">
            <a:avLst>
              <a:gd name="adj" fmla="val 1563"/>
            </a:avLst>
          </a:prstGeom>
          <a:solidFill>
            <a:srgbClr val="0B1F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47088"/>
            <a:ext cx="6153912" cy="2706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  = max(income − debt_emis, 0)   # 1 contractual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essentials  = min(income × 0.50, remaining) # 2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 −= essentials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emergency   = min(gap / 12, income × 0.15,  # 3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          remaining)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remaining  −= emergency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investments = min(desired, remaining)       # 4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flexible    = remaining − investments       # 5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shortfall   = max(debt_emis − income, 0)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7269480" y="1737360"/>
            <a:ext cx="435254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Guard clauses</a:t>
            </a:r>
            <a:endParaRPr lang="en-US" sz="16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269480" y="2157984"/>
          <a:ext cx="4352544" cy="914400"/>
        </p:xfrm>
        <a:graphic>
          <a:graphicData uri="http://schemas.openxmlformats.org/drawingml/2006/table">
            <a:tbl>
              <a:tblPr/>
              <a:tblGrid>
                <a:gridCol w="1883664"/>
                <a:gridCol w="246888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Guard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draw from remaining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Buckets sum to exactly 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essentials before investments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Living costs funded before optional saving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gap / 12, cap 15%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Spreads the shortfall over a year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shortfall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EMIs above income shown, not hidden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66928" y="4882896"/>
            <a:ext cx="6446520" cy="9144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822960" y="4882896"/>
            <a:ext cx="5934456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Result: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waterfall cannot over-allocate. Each bucket draws only from what is left, in priority order, and the flexible bucket absorbs the remainder.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7269480" y="4882896"/>
            <a:ext cx="4352544" cy="914400"/>
          </a:xfrm>
          <a:prstGeom prst="roundRect">
            <a:avLst>
              <a:gd name="adj" fmla="val 8000"/>
            </a:avLst>
          </a:prstGeom>
          <a:solidFill>
            <a:srgbClr val="FBE9EC"/>
          </a:solidFill>
          <a:ln w="15875">
            <a:solidFill>
              <a:srgbClr val="D01843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7498080" y="4882896"/>
            <a:ext cx="38953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D0184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 in audit. </a:t>
            </a:r>
            <a:pPr indent="0" marL="0">
              <a:buNone/>
            </a:pPr>
            <a:r>
              <a:rPr lang="en-US" sz="1100" dirty="0">
                <a:solidFill>
                  <a:srgbClr val="6B102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old order took investments first and split ₹40,000 income into ₹50,000 of buckets.</a:t>
            </a:r>
            <a:endParaRPr lang="en-US" sz="1100" dirty="0"/>
          </a:p>
        </p:txBody>
      </p:sp>
      <p:sp>
        <p:nvSpPr>
          <p:cNvPr id="13" name="Text 10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9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11  ·  PLANNING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Risk-based investment allocation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suggest an instrument mix appropriate to the user's declared risk tolerance.</a:t>
            </a:r>
            <a:endParaRPr lang="en-US" sz="1300" dirty="0"/>
          </a:p>
        </p:txBody>
      </p:sp>
      <p:graphicFrame>
        <p:nvGraphicFramePr>
          <p:cNvPr id="5" name="Chart 0" descr=""/>
          <p:cNvGraphicFramePr/>
          <p:nvPr/>
        </p:nvGraphicFramePr>
        <p:xfrm>
          <a:off x="566928" y="1737360"/>
          <a:ext cx="6858000" cy="40233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6" name="Text 3"/>
          <p:cNvSpPr/>
          <p:nvPr/>
        </p:nvSpPr>
        <p:spPr>
          <a:xfrm>
            <a:off x="7635240" y="1737360"/>
            <a:ext cx="39867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Each profile sums to 100%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7635240" y="2139696"/>
            <a:ext cx="398678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risk rises, weight shifts from FD and liquid funds toward the equity index SIP. Audit finding: conservative used to sum to 105% and growth to 90%.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7635240" y="3218688"/>
            <a:ext cx="3986784" cy="1133856"/>
          </a:xfrm>
          <a:prstGeom prst="roundRect">
            <a:avLst>
              <a:gd name="adj" fmla="val 7258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9" name="Text 6"/>
          <p:cNvSpPr/>
          <p:nvPr/>
        </p:nvSpPr>
        <p:spPr>
          <a:xfrm>
            <a:off x="7872984" y="3218688"/>
            <a:ext cx="3511296" cy="11338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Readiness gate.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 = max(target − saved, 0). The emergency share is capped at the gap; once the fund is ready, the unused share moves to the SIP.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4517136"/>
            <a:ext cx="3986784" cy="1243584"/>
          </a:xfrm>
          <a:prstGeom prst="roundRect">
            <a:avLst>
              <a:gd name="adj" fmla="val 5882"/>
            </a:avLst>
          </a:prstGeom>
          <a:solidFill>
            <a:srgbClr val="FBEEE6"/>
          </a:solidFill>
          <a:ln w="15875">
            <a:solidFill>
              <a:srgbClr val="C2740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7872984" y="4517136"/>
            <a:ext cx="3511296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C274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Compliance. </a:t>
            </a:r>
            <a:pPr indent="0" marL="0">
              <a:buNone/>
            </a:pPr>
            <a:r>
              <a:rPr lang="en-US" sz="1100" dirty="0">
                <a:solidFill>
                  <a:srgbClr val="6B440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app is not a SEBI-registered advisor. The system prompt enforces general financial education only, with an explicit recommendation to consult a qualified advisor.</a:t>
            </a:r>
            <a:endParaRPr lang="en-US" sz="1100" dirty="0"/>
          </a:p>
        </p:txBody>
      </p:sp>
      <p:sp>
        <p:nvSpPr>
          <p:cNvPr id="12" name="Text 9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3" name="Text 10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9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12  ·  ARTIFICIAL INTELLIGENCE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Agentic tool-calling loop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561320" y="658368"/>
            <a:ext cx="1060704" cy="384048"/>
          </a:xfrm>
          <a:prstGeom prst="roundRect">
            <a:avLst>
              <a:gd name="adj" fmla="val 47619"/>
            </a:avLst>
          </a:prstGeom>
          <a:solidFill>
            <a:srgbClr val="C2740B"/>
          </a:solidFill>
          <a:ln/>
        </p:spPr>
      </p:sp>
      <p:sp>
        <p:nvSpPr>
          <p:cNvPr id="5" name="Text 3"/>
          <p:cNvSpPr/>
          <p:nvPr/>
        </p:nvSpPr>
        <p:spPr>
          <a:xfrm>
            <a:off x="10561320" y="658368"/>
            <a:ext cx="10607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NOVEL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66928" y="1353312"/>
            <a:ext cx="10881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a language model asked about personal finances will hallucinate numbers. It must be forced to read real data.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66928" y="1737360"/>
            <a:ext cx="6492240" cy="2962656"/>
          </a:xfrm>
          <a:prstGeom prst="roundRect">
            <a:avLst>
              <a:gd name="adj" fmla="val 1543"/>
            </a:avLst>
          </a:prstGeom>
          <a:solidFill>
            <a:srgbClr val="0B1F2A"/>
          </a:solidFill>
          <a:ln/>
        </p:spPr>
      </p:sp>
      <p:sp>
        <p:nvSpPr>
          <p:cNvPr id="8" name="Text 6"/>
          <p:cNvSpPr/>
          <p:nvPr/>
        </p:nvSpPr>
        <p:spPr>
          <a:xfrm>
            <a:off x="713232" y="1847088"/>
            <a:ext cx="6199632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convo = [system_prompt, ...last 10 messages, question]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 round in 1..5:                   # tool budget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response = LLM(convo, tools=TOOL_DEFINITIONS)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if no tool calls: return response.text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for each tool_call: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result = execute_tool(name, args)  # real pipeline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    convo.append(tool result)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 round 6: forced answer — NO tools sent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return LLM(answer-only prompt + gathered results)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7315200" y="1737360"/>
            <a:ext cx="43068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Guarantees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7315200" y="2194560"/>
            <a:ext cx="274320" cy="274320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11" name="Text 9"/>
          <p:cNvSpPr/>
          <p:nvPr/>
        </p:nvSpPr>
        <p:spPr>
          <a:xfrm>
            <a:off x="7315200" y="219456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7699248" y="2139696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enter context only via tool results — real pipeline output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15200" y="2889504"/>
            <a:ext cx="274320" cy="274320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14" name="Text 12"/>
          <p:cNvSpPr/>
          <p:nvPr/>
        </p:nvSpPr>
        <p:spPr>
          <a:xfrm>
            <a:off x="7315200" y="28895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7699248" y="2834640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Always answers: a 5-part question used to end in "reasoning limit"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7315200" y="3584448"/>
            <a:ext cx="274320" cy="274320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17" name="Text 15"/>
          <p:cNvSpPr/>
          <p:nvPr/>
        </p:nvSpPr>
        <p:spPr>
          <a:xfrm>
            <a:off x="7315200" y="35844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699248" y="3529584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ignored tool_choice="none" (400) — so the last call has no tools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7315200" y="4279392"/>
            <a:ext cx="274320" cy="274320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20" name="Text 18"/>
          <p:cNvSpPr/>
          <p:nvPr/>
        </p:nvSpPr>
        <p:spPr>
          <a:xfrm>
            <a:off x="7315200" y="42793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7699248" y="4224528"/>
            <a:ext cx="392277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Arguments validated; no key or rate limit → rule-based answer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566928" y="4864608"/>
            <a:ext cx="11064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10 tools — each maps to one analytics function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566928" y="515721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51572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dashboard_summary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2798064" y="515721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2798064" y="51572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category_breakdown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0" y="515721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5029200" y="51572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monthly_spend_trend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7260336" y="515721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260336" y="51572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income_vs_expense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9491472" y="5157216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9491472" y="5157216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budget_alerts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566928" y="5577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566928" y="5577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top_merchants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798064" y="5577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798064" y="5577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recurring_transactions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5029200" y="5577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029200" y="5577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salary_plan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260336" y="5577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260336" y="5577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debt_strategy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9491472" y="5577840"/>
            <a:ext cx="2103120" cy="310896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9491472" y="5577840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0F17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investment_profile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9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ALGORITHM 13  ·  CROSS-CUTTING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Fixed-point decimal arithmetic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53312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Problem: IEEE-754 binary floating point cannot represent most decimal fractions exactly.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773936"/>
            <a:ext cx="5760720" cy="1060704"/>
          </a:xfrm>
          <a:prstGeom prst="roundRect">
            <a:avLst>
              <a:gd name="adj" fmla="val 4310"/>
            </a:avLst>
          </a:prstGeom>
          <a:solidFill>
            <a:srgbClr val="0B1F2A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1883664"/>
            <a:ext cx="5468112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&gt;&gt;&gt; 0.1 + 0.2</a:t>
            </a:r>
            <a:endParaRPr lang="en-US" sz="1200" dirty="0"/>
          </a:p>
          <a:p>
            <a:pPr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0.30000000000000004    # error accumulates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66928" y="2962656"/>
            <a:ext cx="5760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Errors compound across thousands of transactions — unacceptable in financial calculations.</a:t>
            </a:r>
            <a:endParaRPr lang="en-US" sz="12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537960" y="1773936"/>
          <a:ext cx="5084064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3392424"/>
              </a:tblGrid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used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BSON Decimal128 (34 significant digits)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Driver boundary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TypeCodec: Decimal128 ⇄ Decimal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Service / schema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decimal.Decimal, quantised to paise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02336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JSON boundary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Converted to float for transport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6537960" y="3931920"/>
            <a:ext cx="5084064" cy="914400"/>
          </a:xfrm>
          <a:prstGeom prst="roundRect">
            <a:avLst>
              <a:gd name="adj" fmla="val 8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793992" y="3931920"/>
            <a:ext cx="45720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codec is registered once on the MongoDB client, so every collection reads and writes Decimal — no value ever passes through a float.</a:t>
            </a:r>
            <a:endParaRPr lang="en-US" sz="1150" dirty="0"/>
          </a:p>
        </p:txBody>
      </p:sp>
      <p:sp>
        <p:nvSpPr>
          <p:cNvPr id="11" name="Shape 8"/>
          <p:cNvSpPr/>
          <p:nvPr/>
        </p:nvSpPr>
        <p:spPr>
          <a:xfrm>
            <a:off x="566928" y="3493008"/>
            <a:ext cx="5760720" cy="1170432"/>
          </a:xfrm>
          <a:prstGeom prst="roundRect">
            <a:avLst>
              <a:gd name="adj" fmla="val 6250"/>
            </a:avLst>
          </a:prstGeom>
          <a:solidFill>
            <a:srgbClr val="0B1F2A"/>
          </a:solidFill>
          <a:ln/>
        </p:spPr>
      </p:sp>
      <p:sp>
        <p:nvSpPr>
          <p:cNvPr id="12" name="Text 9"/>
          <p:cNvSpPr/>
          <p:nvPr/>
        </p:nvSpPr>
        <p:spPr>
          <a:xfrm>
            <a:off x="822960" y="3493008"/>
            <a:ext cx="5248656" cy="11704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Boundary conversion.  </a:t>
            </a:r>
            <a:pPr indent="0" marL="0">
              <a:buNone/>
            </a:pPr>
            <a:r>
              <a:rPr lang="en-US" sz="115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has no native JSON form — serialising it naively produces a string, which breaks arithmetic in the browser. This was a real defect found in testing (see Defects slide).</a:t>
            </a:r>
            <a:endParaRPr lang="en-US" sz="1150" dirty="0"/>
          </a:p>
        </p:txBody>
      </p:sp>
      <p:sp>
        <p:nvSpPr>
          <p:cNvPr id="13" name="Text 10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4" name="Text 11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9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Algorithm complexity summary</a:t>
            </a:r>
            <a:endParaRPr lang="en-US" sz="3000" dirty="0"/>
          </a:p>
        </p:txBody>
      </p:sp>
      <p:graphicFrame>
        <p:nvGraphicFramePr>
          <p:cNvPr id="1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71600"/>
          <a:ext cx="110550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2834640"/>
                <a:gridCol w="5202936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Complexity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Argon2id hashing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O(m) memory-hard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Intentionally slow — that is the defence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JWT verify + revocation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 + one indexed lookup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Unique index on jti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CSV parse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Single pass over rows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Categorisation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O(K) per row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 = 58 keywords — effectively constant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Duplicate detection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+ M)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Hash-set membership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 derivation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in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$group by month, $limit 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summary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O(N) in DB, O(1) transferred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 range scan; one result document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 / recurring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O(N log N) in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$group + $sort / $group + $match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alerts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O(B × T) in DB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$lookup, not B queries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Debt avalanche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O(D log D)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Index-backed sort by interest rate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waterfall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O(1)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Fixed arithmetic sequence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Agentic loop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O(R × T)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 ≤ 5 tool rounds + 1 answer round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138928"/>
            <a:ext cx="11055096" cy="713232"/>
          </a:xfrm>
          <a:prstGeom prst="roundRect">
            <a:avLst>
              <a:gd name="adj" fmla="val 10256"/>
            </a:avLst>
          </a:prstGeom>
          <a:solidFill>
            <a:srgbClr val="0B1F2A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" y="5138928"/>
            <a:ext cx="1046988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result:  </a:t>
            </a:r>
            <a:pPr indent="0" marL="0">
              <a:buNone/>
            </a:pPr>
            <a:r>
              <a:rPr lang="en-US" sz="130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aggregation runs inside the database — application memory is O(1) no matter how many transactions a user has.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9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572000"/>
            <a:ext cx="3291840" cy="3291840"/>
          </a:xfrm>
          <a:prstGeom prst="ellipse">
            <a:avLst/>
          </a:prstGeom>
          <a:solidFill>
            <a:srgbClr val="0F766E">
              <a:alpha val="18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51592" y="5212080"/>
            <a:ext cx="2011680" cy="20116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2286000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 B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2697480"/>
            <a:ext cx="11055096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Implementation &amp; Testing</a:t>
            </a:r>
            <a:endParaRPr lang="en-US" sz="5000" dirty="0"/>
          </a:p>
        </p:txBody>
      </p:sp>
      <p:sp>
        <p:nvSpPr>
          <p:cNvPr id="6" name="Text 4"/>
          <p:cNvSpPr/>
          <p:nvPr/>
        </p:nvSpPr>
        <p:spPr>
          <a:xfrm>
            <a:off x="566928" y="3767328"/>
            <a:ext cx="110550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  ·  Architecture  ·  Test strategy  ·  Defects found  ·  CI/CD</a:t>
            </a:r>
            <a:endParaRPr lang="en-US" sz="16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Technology stack</a:t>
            </a:r>
            <a:endParaRPr lang="en-US" sz="3000" dirty="0"/>
          </a:p>
        </p:txBody>
      </p:sp>
      <p:graphicFrame>
        <p:nvGraphicFramePr>
          <p:cNvPr id="2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5096" cy="914400"/>
        </p:xfrm>
        <a:graphic>
          <a:graphicData uri="http://schemas.openxmlformats.org/drawingml/2006/table">
            <a:tbl>
              <a:tblPr/>
              <a:tblGrid>
                <a:gridCol w="1783080"/>
                <a:gridCol w="3429000"/>
                <a:gridCol w="5843016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Layer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Technology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Reason for the choice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(Python 3.12)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Automatic OpenAPI docs, native Pydantic 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MongoDB 8.0 + PyMongo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Aggregation pipelines for analytics; TTL indexes; Decimal128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Pydantic v2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 and response schemas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Authentication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PyJWT + argon2-cffi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Maintained libraries, OWASP-recommended hashing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Rate limiting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SlowAPI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Brute-force protection on auth routes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(gpt-oss-120b) · Claude (opus-5)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 tier by default; provider-agnostic design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React 18 + TypeScript + Vite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safety, fast hot reload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Server state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TanStack Query v5 + Zustand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Caching and refetching; light auth store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Charts / styling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Recharts + Tailwind CSS v4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Declarative charts, utility-first CSS, light and dark themes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 multi-stage + nginx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Reproducible builds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CI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GitHub Actions + MongoDB service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Lint, tests against a real database, build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9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Scale and architecture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103120" cy="1060704"/>
          </a:xfrm>
          <a:prstGeom prst="roundRect">
            <a:avLst>
              <a:gd name="adj" fmla="val 7759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66928" y="151790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43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566928" y="21762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endpoints</a:t>
            </a:r>
            <a:endParaRPr lang="en-US" sz="1150" dirty="0"/>
          </a:p>
        </p:txBody>
      </p:sp>
      <p:sp>
        <p:nvSpPr>
          <p:cNvPr id="7" name="Shape 5"/>
          <p:cNvSpPr/>
          <p:nvPr/>
        </p:nvSpPr>
        <p:spPr>
          <a:xfrm>
            <a:off x="2825496" y="1371600"/>
            <a:ext cx="2103120" cy="1060704"/>
          </a:xfrm>
          <a:prstGeom prst="roundRect">
            <a:avLst>
              <a:gd name="adj" fmla="val 7759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2825496" y="151790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2825496" y="21762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Collections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5084064" y="1371600"/>
            <a:ext cx="2103120" cy="1060704"/>
          </a:xfrm>
          <a:prstGeom prst="roundRect">
            <a:avLst>
              <a:gd name="adj" fmla="val 7759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5084064" y="151790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5084064" y="21762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pages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7342632" y="1371600"/>
            <a:ext cx="2103120" cy="1060704"/>
          </a:xfrm>
          <a:prstGeom prst="roundRect">
            <a:avLst>
              <a:gd name="adj" fmla="val 7759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7342632" y="151790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7342632" y="21762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tools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9601200" y="1371600"/>
            <a:ext cx="2103120" cy="1060704"/>
          </a:xfrm>
          <a:prstGeom prst="roundRect">
            <a:avLst>
              <a:gd name="adj" fmla="val 7759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9601200" y="1517904"/>
            <a:ext cx="2103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766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4000" dirty="0"/>
          </a:p>
        </p:txBody>
      </p:sp>
      <p:sp>
        <p:nvSpPr>
          <p:cNvPr id="18" name="Text 16"/>
          <p:cNvSpPr/>
          <p:nvPr/>
        </p:nvSpPr>
        <p:spPr>
          <a:xfrm>
            <a:off x="9601200" y="2176272"/>
            <a:ext cx="21031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tests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2688336"/>
            <a:ext cx="55778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Layered architecture</a:t>
            </a:r>
            <a:endParaRPr lang="en-US" sz="1700" dirty="0"/>
          </a:p>
        </p:txBody>
      </p:sp>
      <p:sp>
        <p:nvSpPr>
          <p:cNvPr id="20" name="Shape 18"/>
          <p:cNvSpPr/>
          <p:nvPr/>
        </p:nvSpPr>
        <p:spPr>
          <a:xfrm>
            <a:off x="566928" y="3054096"/>
            <a:ext cx="5577840" cy="2743200"/>
          </a:xfrm>
          <a:prstGeom prst="roundRect">
            <a:avLst>
              <a:gd name="adj" fmla="val 1667"/>
            </a:avLst>
          </a:prstGeom>
          <a:solidFill>
            <a:srgbClr val="0B1F2A"/>
          </a:solidFill>
          <a:ln/>
        </p:spPr>
      </p:sp>
      <p:sp>
        <p:nvSpPr>
          <p:cNvPr id="21" name="Text 19"/>
          <p:cNvSpPr/>
          <p:nvPr/>
        </p:nvSpPr>
        <p:spPr>
          <a:xfrm>
            <a:off x="713232" y="3163824"/>
            <a:ext cx="5285232" cy="2523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app/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api/routes/   HTTP layer      — requests only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services/     Business logic  — pipelines, CSV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ai/           AI layer        — loops + tools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models/       Document models (Pydantic)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schemas/      API contracts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├── core/         Config, security, rate limiting</a:t>
            </a:r>
            <a:endParaRPr lang="en-US" sz="950" dirty="0"/>
          </a:p>
          <a:p>
            <a:pPr indent="0" marL="0">
              <a:lnSpc>
                <a:spcPts val="1349"/>
              </a:lnSpc>
              <a:buNone/>
            </a:pPr>
            <a:r>
              <a:rPr lang="en-US" sz="950" dirty="0">
                <a:solidFill>
                  <a:srgbClr val="7FE3D2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└── db/           Mongo client, Decimal codec, ids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6400800" y="2688336"/>
            <a:ext cx="522122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Code volume</a:t>
            </a:r>
            <a:endParaRPr lang="en-US" sz="1700" dirty="0"/>
          </a:p>
        </p:txBody>
      </p:sp>
      <p:graphicFrame>
        <p:nvGraphicFramePr>
          <p:cNvPr id="2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400800" y="3054096"/>
          <a:ext cx="5221224" cy="914400"/>
        </p:xfrm>
        <a:graphic>
          <a:graphicData uri="http://schemas.openxmlformats.org/drawingml/2006/table">
            <a:tbl>
              <a:tblPr/>
              <a:tblGrid>
                <a:gridCol w="2569464"/>
                <a:gridCol w="2651760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Component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Lines of code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 (Python)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~2,940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 (TypeScript/React)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~3,160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Database migration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→ MongoDB, API unchanged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4" name="Shape 21"/>
          <p:cNvSpPr/>
          <p:nvPr/>
        </p:nvSpPr>
        <p:spPr>
          <a:xfrm>
            <a:off x="6400800" y="5175504"/>
            <a:ext cx="5221224" cy="621792"/>
          </a:xfrm>
          <a:prstGeom prst="roundRect">
            <a:avLst>
              <a:gd name="adj" fmla="val 11765"/>
            </a:avLst>
          </a:prstGeom>
          <a:solidFill>
            <a:srgbClr val="F2F6F5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25" name="Text 22"/>
          <p:cNvSpPr/>
          <p:nvPr/>
        </p:nvSpPr>
        <p:spPr>
          <a:xfrm>
            <a:off x="6638544" y="5175504"/>
            <a:ext cx="4745736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layer depends only on the one beneath it, so business logic is unit-testable without HTTP.</a:t>
            </a:r>
            <a:endParaRPr lang="en-US" sz="1150" dirty="0"/>
          </a:p>
        </p:txBody>
      </p:sp>
      <p:sp>
        <p:nvSpPr>
          <p:cNvPr id="26" name="Text 23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9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Key implementation decisions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35024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463040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768096" y="146304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261872" y="138074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Database-side aggregation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261872" y="1627632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Analytics are MongoDB pipelines with compound indexes on (user_id, date), (user_id, category), (user_id, interest_rate).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566928" y="2002536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68096" y="2130552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768096" y="213055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261872" y="204825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 money path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261872" y="2295144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Decimal128 in storage, Decimal in code — never float until the JSON boundary.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566928" y="2670048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768096" y="2798064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" y="279806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261872" y="271576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Stable integer ids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1261872" y="2962656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counters collection issues sequential ids, so URLs such as /budgets/12 survived the SQL → MongoDB migration.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566928" y="3337560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68096" y="3465576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1" name="Text 19"/>
          <p:cNvSpPr/>
          <p:nvPr/>
        </p:nvSpPr>
        <p:spPr>
          <a:xfrm>
            <a:off x="768096" y="346557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150" dirty="0"/>
          </a:p>
        </p:txBody>
      </p:sp>
      <p:sp>
        <p:nvSpPr>
          <p:cNvPr id="22" name="Text 20"/>
          <p:cNvSpPr/>
          <p:nvPr/>
        </p:nvSpPr>
        <p:spPr>
          <a:xfrm>
            <a:off x="1261872" y="33832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Income from data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261872" y="3630168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Monthly income is derived from imported salary credits, not typed in at registration.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66928" y="4005072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768096" y="413308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6" name="Text 24"/>
          <p:cNvSpPr/>
          <p:nvPr/>
        </p:nvSpPr>
        <p:spPr>
          <a:xfrm>
            <a:off x="768096" y="413308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1261872" y="405079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Safe retries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1261872" y="4297680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Only GET/HEAD are retried — retrying a POST after a timeout had created the same budget three times.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566928" y="4672584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768096" y="4800600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1" name="Text 29"/>
          <p:cNvSpPr/>
          <p:nvPr/>
        </p:nvSpPr>
        <p:spPr>
          <a:xfrm>
            <a:off x="768096" y="480060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1261872" y="4718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Cache per user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1261872" y="4965192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Mutations invalidate derived views; the whole query cache is cleared when the signed-in user changes.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566928" y="5340096"/>
            <a:ext cx="11055096" cy="603504"/>
          </a:xfrm>
          <a:prstGeom prst="roundRect">
            <a:avLst>
              <a:gd name="adj" fmla="val 13636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68096" y="5468112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36" name="Text 34"/>
          <p:cNvSpPr/>
          <p:nvPr/>
        </p:nvSpPr>
        <p:spPr>
          <a:xfrm>
            <a:off x="768096" y="546811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150" dirty="0"/>
          </a:p>
        </p:txBody>
      </p:sp>
      <p:sp>
        <p:nvSpPr>
          <p:cNvPr id="37" name="Text 35"/>
          <p:cNvSpPr/>
          <p:nvPr/>
        </p:nvSpPr>
        <p:spPr>
          <a:xfrm>
            <a:off x="1261872" y="538581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Provider-agnostic AI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1261872" y="5632704"/>
            <a:ext cx="101132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Groq → Anthropic → deterministic fallback, so the app runs with no API key at all.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9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Four levels of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04672" y="157276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6" name="Text 4"/>
          <p:cNvSpPr/>
          <p:nvPr/>
        </p:nvSpPr>
        <p:spPr>
          <a:xfrm>
            <a:off x="804672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1243584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Unit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804672" y="201168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pytest, isolated functions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804672" y="2304288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amounts, dates, categorisation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371600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21024" y="157276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2" name="Text 10"/>
          <p:cNvSpPr/>
          <p:nvPr/>
        </p:nvSpPr>
        <p:spPr>
          <a:xfrm>
            <a:off x="3621024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4059936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Integration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621024" y="201168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+ real MongoDB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21024" y="2304288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Pipelines, waterfall, income derivation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199632" y="1371600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37376" y="157276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18" name="Text 16"/>
          <p:cNvSpPr/>
          <p:nvPr/>
        </p:nvSpPr>
        <p:spPr>
          <a:xfrm>
            <a:off x="6437376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76288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API / E2E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437376" y="201168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TestClient, fake AI clients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437376" y="2304288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Request → auth → DB → response; both AI loops offline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015984" y="1371600"/>
            <a:ext cx="2596896" cy="1572768"/>
          </a:xfrm>
          <a:prstGeom prst="roundRect">
            <a:avLst>
              <a:gd name="adj" fmla="val 5233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9253728" y="1572768"/>
            <a:ext cx="347472" cy="347472"/>
          </a:xfrm>
          <a:prstGeom prst="ellipse">
            <a:avLst/>
          </a:prstGeom>
          <a:solidFill>
            <a:srgbClr val="0F766E"/>
          </a:solidFill>
          <a:ln/>
        </p:spPr>
      </p:sp>
      <p:sp>
        <p:nvSpPr>
          <p:cNvPr id="24" name="Text 22"/>
          <p:cNvSpPr/>
          <p:nvPr/>
        </p:nvSpPr>
        <p:spPr>
          <a:xfrm>
            <a:off x="9253728" y="157276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9692640" y="1572768"/>
            <a:ext cx="168249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Manual / UI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253728" y="2011680"/>
            <a:ext cx="21214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Browser, axe, contrast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253728" y="2304288"/>
            <a:ext cx="212140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Dark mode, 375 px mobile, accessibility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566928" y="3145536"/>
            <a:ext cx="5852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infrastructure — fixture design (conftest.py)</a:t>
            </a:r>
            <a:endParaRPr lang="en-US" sz="1600" dirty="0"/>
          </a:p>
        </p:txBody>
      </p:sp>
      <p:graphicFrame>
        <p:nvGraphicFramePr>
          <p:cNvPr id="2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3566160"/>
          <a:ext cx="58521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914400"/>
                <a:gridCol w="35661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Fixture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test_database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session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Throwaway finflow_test_&lt;random&gt;, dropped at 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db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Empties every collection after each test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TestClient against the app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Seeded user + investment profile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auth_headers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 JWT bearer header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30" name="Shape 27"/>
          <p:cNvSpPr/>
          <p:nvPr/>
        </p:nvSpPr>
        <p:spPr>
          <a:xfrm>
            <a:off x="6675120" y="3566160"/>
            <a:ext cx="4946904" cy="1060704"/>
          </a:xfrm>
          <a:prstGeom prst="roundRect">
            <a:avLst>
              <a:gd name="adj" fmla="val 6897"/>
            </a:avLst>
          </a:prstGeom>
          <a:solidFill>
            <a:srgbClr val="0B1F2A"/>
          </a:solidFill>
          <a:ln/>
        </p:spPr>
      </p:sp>
      <p:sp>
        <p:nvSpPr>
          <p:cNvPr id="31" name="Text 28"/>
          <p:cNvSpPr/>
          <p:nvPr/>
        </p:nvSpPr>
        <p:spPr>
          <a:xfrm>
            <a:off x="6912864" y="3566160"/>
            <a:ext cx="44714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isolation.  </a:t>
            </a:r>
            <a:pPr indent="0" marL="0">
              <a:buNone/>
            </a:pPr>
            <a:r>
              <a:rPr lang="en-US" sz="115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random database per run, emptied after every test. A guard refuses to start unless the name begins with finflow_test_ — real data is never touched.</a:t>
            </a:r>
            <a:endParaRPr lang="en-US" sz="1150" dirty="0"/>
          </a:p>
        </p:txBody>
      </p:sp>
      <p:sp>
        <p:nvSpPr>
          <p:cNvPr id="32" name="Shape 29"/>
          <p:cNvSpPr/>
          <p:nvPr/>
        </p:nvSpPr>
        <p:spPr>
          <a:xfrm>
            <a:off x="6675120" y="4754880"/>
            <a:ext cx="4946904" cy="1060704"/>
          </a:xfrm>
          <a:prstGeom prst="roundRect">
            <a:avLst>
              <a:gd name="adj" fmla="val 7759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33" name="Text 30"/>
          <p:cNvSpPr/>
          <p:nvPr/>
        </p:nvSpPr>
        <p:spPr>
          <a:xfrm>
            <a:off x="6912864" y="4754880"/>
            <a:ext cx="4471416" cy="10607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a real MongoDB, not mocks?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analytics layer is aggregation pipelines — a mock would test the mock. The suite still runs in about 5 seconds.</a:t>
            </a:r>
            <a:endParaRPr lang="en-US" sz="1150" dirty="0"/>
          </a:p>
        </p:txBody>
      </p:sp>
      <p:sp>
        <p:nvSpPr>
          <p:cNvPr id="34" name="Text 31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35" name="Text 32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9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Test suite results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66928" y="1371600"/>
            <a:ext cx="3931920" cy="1737360"/>
          </a:xfrm>
          <a:prstGeom prst="roundRect">
            <a:avLst>
              <a:gd name="adj" fmla="val 5263"/>
            </a:avLst>
          </a:prstGeom>
          <a:solidFill>
            <a:srgbClr val="0B1F2A"/>
          </a:solidFill>
          <a:ln/>
        </p:spPr>
      </p:sp>
      <p:sp>
        <p:nvSpPr>
          <p:cNvPr id="5" name="Text 3"/>
          <p:cNvSpPr/>
          <p:nvPr/>
        </p:nvSpPr>
        <p:spPr>
          <a:xfrm>
            <a:off x="566928" y="1517904"/>
            <a:ext cx="393192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200" b="1" dirty="0">
                <a:solidFill>
                  <a:srgbClr val="14B8A6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143</a:t>
            </a:r>
            <a:endParaRPr lang="en-US" sz="6200" dirty="0"/>
          </a:p>
        </p:txBody>
      </p:sp>
      <p:sp>
        <p:nvSpPr>
          <p:cNvPr id="6" name="Text 4"/>
          <p:cNvSpPr/>
          <p:nvPr/>
        </p:nvSpPr>
        <p:spPr>
          <a:xfrm>
            <a:off x="566928" y="2377440"/>
            <a:ext cx="3931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passing in 4.7 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66928" y="2688336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8FA6B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$ pytest -q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566928" y="3310128"/>
            <a:ext cx="3931920" cy="2542032"/>
          </a:xfrm>
          <a:prstGeom prst="roundRect">
            <a:avLst>
              <a:gd name="adj" fmla="val 3237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822960" y="3456432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Other quality gates — all clean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822960" y="3822192"/>
            <a:ext cx="237744" cy="237744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11" name="Text 9"/>
          <p:cNvSpPr/>
          <p:nvPr/>
        </p:nvSpPr>
        <p:spPr>
          <a:xfrm>
            <a:off x="822960" y="382219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1170432" y="378561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(pinned rule set)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22960" y="4151376"/>
            <a:ext cx="237744" cy="237744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4151376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1170432" y="4114800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--noEmit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822960" y="4480560"/>
            <a:ext cx="237744" cy="237744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4480560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1170432" y="4443984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822960" y="4809744"/>
            <a:ext cx="237744" cy="237744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809744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1170432" y="4773168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 accessibility scan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822960" y="5138928"/>
            <a:ext cx="237744" cy="237744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23" name="Text 21"/>
          <p:cNvSpPr/>
          <p:nvPr/>
        </p:nvSpPr>
        <p:spPr>
          <a:xfrm>
            <a:off x="822960" y="5138928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1170432" y="5102352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WCAG contrast, light + dark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822960" y="5468112"/>
            <a:ext cx="237744" cy="237744"/>
          </a:xfrm>
          <a:prstGeom prst="ellipse">
            <a:avLst/>
          </a:prstGeom>
          <a:solidFill>
            <a:srgbClr val="0A7C55"/>
          </a:solidFill>
          <a:ln/>
        </p:spPr>
      </p:sp>
      <p:sp>
        <p:nvSpPr>
          <p:cNvPr id="26" name="Text 24"/>
          <p:cNvSpPr/>
          <p:nvPr/>
        </p:nvSpPr>
        <p:spPr>
          <a:xfrm>
            <a:off x="822960" y="5468112"/>
            <a:ext cx="237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1170432" y="5431536"/>
            <a:ext cx="3108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overflow at 375 px</a:t>
            </a:r>
            <a:endParaRPr lang="en-US" sz="1150" dirty="0"/>
          </a:p>
        </p:txBody>
      </p:sp>
      <p:graphicFrame>
        <p:nvGraphicFramePr>
          <p:cNvPr id="28" name="Chart 0" descr=""/>
          <p:cNvGraphicFramePr/>
          <p:nvPr/>
        </p:nvGraphicFramePr>
        <p:xfrm>
          <a:off x="4754880" y="1371600"/>
          <a:ext cx="6867144" cy="448056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29" name="Text 26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30" name="Text 27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9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 ·  ROUND 1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found by testing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51008" y="658368"/>
            <a:ext cx="1271016" cy="384048"/>
          </a:xfrm>
          <a:prstGeom prst="roundRect">
            <a:avLst>
              <a:gd name="adj" fmla="val 47619"/>
            </a:avLst>
          </a:prstGeom>
          <a:solidFill>
            <a:srgbClr val="D01843"/>
          </a:solidFill>
          <a:ln/>
        </p:spPr>
      </p:sp>
      <p:sp>
        <p:nvSpPr>
          <p:cNvPr id="5" name="Text 3"/>
          <p:cNvSpPr/>
          <p:nvPr/>
        </p:nvSpPr>
        <p:spPr>
          <a:xfrm>
            <a:off x="10351008" y="65836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BUGS</a:t>
            </a:r>
            <a:endParaRPr lang="en-US" sz="1100" dirty="0"/>
          </a:p>
        </p:txBody>
      </p:sp>
      <p:graphicFrame>
        <p:nvGraphicFramePr>
          <p:cNvPr id="2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53312"/>
          <a:ext cx="11055096" cy="914400"/>
        </p:xfrm>
        <a:graphic>
          <a:graphicData uri="http://schemas.openxmlformats.org/drawingml/2006/table">
            <a:tbl>
              <a:tblPr/>
              <a:tblGrid>
                <a:gridCol w="384048"/>
                <a:gridCol w="3200400"/>
                <a:gridCol w="3291840"/>
                <a:gridCol w="4178808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Root cause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Dashboard crash: toFixed is not a function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FastAPI serialised Decimal as a JSON string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Convert Decimal → float at service boundary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NameError on copilot history route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Response model used but never imported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Added the missing import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Login failed: InvalidHashError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Wrong argon2-cffi version from system Python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Isolated virtualenv, pinned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logins invalid after restart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SECRET_KEY not persisted — JWTs re-signed each start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Persisted generated key in gitignored .env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401 shown as "backend unavailable"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Any error treated as a network failure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isBackendUnreachable(); 401 clears session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Real error masked by "Missing bearer token"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Query retried the 401 after token was cleared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Never retry auth errors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Parallel queries fired without a token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One 401 cleared the token mid-flight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api.ts fails closed — no token, no request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form silently did nothing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min=1 with step=500 → 10000 fails HTML validation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step="1" on all money inputs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rejected every tool call (400)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emitted null for an optional parameter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Widened optional params to [string, null]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175504"/>
            <a:ext cx="11055096" cy="786384"/>
          </a:xfrm>
          <a:prstGeom prst="roundRect">
            <a:avLst>
              <a:gd name="adj" fmla="val 9302"/>
            </a:avLst>
          </a:prstGeom>
          <a:solidFill>
            <a:srgbClr val="0B1F2A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5175504"/>
            <a:ext cx="1046988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Worth noting:  </a:t>
            </a:r>
            <a:pPr indent="0" marL="0">
              <a:buNone/>
            </a:pPr>
            <a:r>
              <a:rPr lang="en-US" sz="120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defects 5–7 were cascading — fixing one exposed the next. Defect 8 is a silent failure: no console error, no network request, no user feedback. Only inspecting form.checkValidity() revealed it.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90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  ·  ROUND 2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Defects found by full audit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0351008" y="658368"/>
            <a:ext cx="1271016" cy="384048"/>
          </a:xfrm>
          <a:prstGeom prst="roundRect">
            <a:avLst>
              <a:gd name="adj" fmla="val 47619"/>
            </a:avLst>
          </a:prstGeom>
          <a:solidFill>
            <a:srgbClr val="D01843"/>
          </a:solidFill>
          <a:ln/>
        </p:spPr>
      </p:sp>
      <p:sp>
        <p:nvSpPr>
          <p:cNvPr id="5" name="Text 3"/>
          <p:cNvSpPr/>
          <p:nvPr/>
        </p:nvSpPr>
        <p:spPr>
          <a:xfrm>
            <a:off x="10351008" y="658368"/>
            <a:ext cx="12710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 BUGS</a:t>
            </a:r>
            <a:endParaRPr lang="en-US" sz="11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316736"/>
          <a:ext cx="11055096" cy="914400"/>
        </p:xfrm>
        <a:graphic>
          <a:graphicData uri="http://schemas.openxmlformats.org/drawingml/2006/table">
            <a:tbl>
              <a:tblPr/>
              <a:tblGrid>
                <a:gridCol w="420624"/>
                <a:gridCol w="3346704"/>
                <a:gridCol w="3566160"/>
                <a:gridCol w="3721608"/>
              </a:tblGrid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Effect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Fix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SIPs counted as spending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Savers shown negative savings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Investments excluded from spend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Substring keyword matching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"premium" → EMI, "cola" → Transport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Whole-word regex patterns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Waterfall took investments first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₹40,000 split into ₹50,000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bucket draws from remaining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Allocation splits summed to 105% / 90%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Advice exceeded or wasted capacity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Each profile sums to 100%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Savings rate from ₹0 income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−5% before salary was credited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income for savings and rate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Salary listed as a recurring drain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Copilot called income a subscription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Recurring: expenses only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retried after a timeout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budget created three times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Retry only GET/HEAD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17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422 errors shown as [object Object]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Unreadable validation messages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Flatten FastAPI detail arrays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18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Multi-part copilot questions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"Reasoning limit", no answer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Forced final answer round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19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Groq 400 on that final round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tool_choice="none" ignored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request sends no tools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Logout left the token valid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Copied token worked for 24 h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jti revocation + TTL index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Account switch in the same tab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Previous user's data flashed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Clear query cache on session change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22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Grey text contrast 2.6 : 1 / 3.9 : 1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Failed WCAG AA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4.5 : 1 in both themes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9718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23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Import failing part-way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Half a statement saved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Rollback by _id; ids in one update</a:t>
                      </a:r>
                      <a:endParaRPr lang="en-US" sz="9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66928" y="5852160"/>
            <a:ext cx="11055096" cy="493776"/>
          </a:xfrm>
          <a:prstGeom prst="roundRect">
            <a:avLst>
              <a:gd name="adj" fmla="val 14815"/>
            </a:avLst>
          </a:prstGeom>
          <a:solidFill>
            <a:srgbClr val="0B1F2A"/>
          </a:solidFill>
          <a:ln/>
        </p:spPr>
      </p:sp>
      <p:sp>
        <p:nvSpPr>
          <p:cNvPr id="8" name="Text 5"/>
          <p:cNvSpPr/>
          <p:nvPr/>
        </p:nvSpPr>
        <p:spPr>
          <a:xfrm>
            <a:off x="859536" y="5852160"/>
            <a:ext cx="1046988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Lesson:  </a:t>
            </a:r>
            <a:pPr indent="0" marL="0">
              <a:buNone/>
            </a:pPr>
            <a:r>
              <a:rPr lang="en-US" sz="115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mostly numerical bugs that raised no error — the app ran, but the numbers were wrong. Each now has a regression test.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0" name="Text 7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9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End-to-end verification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full user journey exercised against the running system:</a:t>
            </a:r>
            <a:endParaRPr lang="en-US" sz="1300" dirty="0"/>
          </a:p>
        </p:txBody>
      </p:sp>
      <p:graphicFrame>
        <p:nvGraphicFramePr>
          <p:cNvPr id="2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27632"/>
          <a:ext cx="11055096" cy="914400"/>
        </p:xfrm>
        <a:graphic>
          <a:graphicData uri="http://schemas.openxmlformats.org/drawingml/2006/table">
            <a:tbl>
              <a:tblPr/>
              <a:tblGrid>
                <a:gridCol w="3017520"/>
                <a:gridCol w="3200400"/>
                <a:gridCol w="4837176"/>
              </a:tblGrid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Result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  Register (no income asked)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/auth/register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Created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  Log 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/auth/login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Token issued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  Dashboard before import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/dashboard/summary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zeros + empty state (no fake data)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  Import CSV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/transactions/upload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Rows imported, duplicates reported, income derived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  Dashboard after import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/dashboard/summary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₹1,25,000 income · ₹87,128 spend · ₹18,000 invested · 30.3%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  Create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/budgets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— Food ₹12,000; second Food budget → 409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  Create debt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/debt-accounts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201 — Home Loan @ 8.65%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  Budget 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/budgets/alerts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Food 108.2% overspent, Bills 90.2% warning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  Salary 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GET /salary-plan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Buckets sum exactly to income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 Copilot query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/copilot/ask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Names the Food overspend; 10-part question answered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11  Authorisation check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another user's budget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404 — existence not disclosed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8346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12  Logout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POST /auth/logout → GET /auth/me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204, then 401 with the same token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5449824"/>
            <a:ext cx="5577840" cy="822960"/>
          </a:xfrm>
          <a:prstGeom prst="roundRect">
            <a:avLst>
              <a:gd name="adj" fmla="val 1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822960" y="5449824"/>
            <a:ext cx="506577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 checks.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axe: no violations on any page · contrast verified in light and dark · no horizontal overflow at 375 px.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6400800" y="5449824"/>
            <a:ext cx="5221224" cy="822960"/>
          </a:xfrm>
          <a:prstGeom prst="roundRect">
            <a:avLst>
              <a:gd name="adj" fmla="val 8889"/>
            </a:avLst>
          </a:prstGeom>
          <a:solidFill>
            <a:srgbClr val="F2F6F5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6638544" y="5449824"/>
            <a:ext cx="4745736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detail. </a:t>
            </a:r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Another user's resource returns 404, not 403 — the response never reveals whether the record exists.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27</a:t>
            </a:r>
            <a:endParaRPr lang="en-US" sz="9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Multi-user validation dataset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Five CSV datasets modelling distinct financial personas — all parsing with zero rejected rows.</a:t>
            </a:r>
            <a:endParaRPr lang="en-US" sz="1300" dirty="0"/>
          </a:p>
        </p:txBody>
      </p:sp>
      <p:graphicFrame>
        <p:nvGraphicFramePr>
          <p:cNvPr id="2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645920"/>
          <a:ext cx="11055096" cy="914400"/>
        </p:xfrm>
        <a:graphic>
          <a:graphicData uri="http://schemas.openxmlformats.org/drawingml/2006/table">
            <a:tbl>
              <a:tblPr/>
              <a:tblGrid>
                <a:gridCol w="1143000"/>
                <a:gridCol w="3703320"/>
                <a:gridCol w="1417320"/>
                <a:gridCol w="1417320"/>
                <a:gridCol w="3374136"/>
              </a:tblGrid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Persona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Expense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What it tests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Fresher, PG rent, education 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₹84,000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₹59,495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 income, healthy surplus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Rahul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 professional, family, home loan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₹2,50,000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₹2,10,726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Multi-category, school fees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Ananya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Freelancer, irregular income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₹1,99,396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Variable income, one-off purchase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Vikram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Senior manager, overspender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₹5,00,000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₹6,00,998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Negative savings, multiple loans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Meera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Newlywed, car loan, disciplined saver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₹1,70,000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₹1,75,696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Balanced profile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Shape 3"/>
          <p:cNvSpPr/>
          <p:nvPr/>
        </p:nvSpPr>
        <p:spPr>
          <a:xfrm>
            <a:off x="566928" y="4480560"/>
            <a:ext cx="5577840" cy="1097280"/>
          </a:xfrm>
          <a:prstGeom prst="roundRect">
            <a:avLst>
              <a:gd name="adj" fmla="val 6667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22960" y="4480560"/>
            <a:ext cx="506577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Deliberate edge cases.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Ananya and Vikram both spend more than they earn — validating that negative savings rates, over-limit budgets and deficit handling all behave correctly.</a:t>
            </a:r>
            <a:endParaRPr lang="en-US" sz="1150" dirty="0"/>
          </a:p>
        </p:txBody>
      </p:sp>
      <p:sp>
        <p:nvSpPr>
          <p:cNvPr id="8" name="Shape 5"/>
          <p:cNvSpPr/>
          <p:nvPr/>
        </p:nvSpPr>
        <p:spPr>
          <a:xfrm>
            <a:off x="6400800" y="4480560"/>
            <a:ext cx="5221224" cy="1097280"/>
          </a:xfrm>
          <a:prstGeom prst="roundRect">
            <a:avLst>
              <a:gd name="adj" fmla="val 6667"/>
            </a:avLst>
          </a:prstGeom>
          <a:solidFill>
            <a:srgbClr val="0B1F2A"/>
          </a:solidFill>
          <a:ln/>
        </p:spPr>
      </p:sp>
      <p:sp>
        <p:nvSpPr>
          <p:cNvPr id="9" name="Text 6"/>
          <p:cNvSpPr/>
          <p:nvPr/>
        </p:nvSpPr>
        <p:spPr>
          <a:xfrm>
            <a:off x="6638544" y="4480560"/>
            <a:ext cx="4745736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months of data each,  </a:t>
            </a:r>
            <a:pPr indent="0" marL="0">
              <a:buNone/>
            </a:pPr>
            <a:r>
              <a:rPr lang="en-US" sz="1150" dirty="0">
                <a:solidFill>
                  <a:srgbClr val="D5E3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trend charts, recurring detection and the income average have enough history to work against.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28</a:t>
            </a:r>
            <a:endParaRPr lang="en-US" sz="9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CI/CD pipeline and containerisation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66928" y="1316736"/>
            <a:ext cx="110550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B6B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GitHub Actions — backend and frontend in parallel, then Docker on push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566928" y="1664208"/>
            <a:ext cx="3493008" cy="1737360"/>
          </a:xfrm>
          <a:prstGeom prst="roundRect">
            <a:avLst>
              <a:gd name="adj" fmla="val 4737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04672" y="182880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8288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backend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04672" y="2322576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3.12 + MongoDB 8.0 service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ruff — version and rules pinned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pytest — 143 tests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4352544" y="1664208"/>
            <a:ext cx="3493008" cy="1737360"/>
          </a:xfrm>
          <a:prstGeom prst="roundRect">
            <a:avLst>
              <a:gd name="adj" fmla="val 4737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90288" y="182880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1" name="Text 9"/>
          <p:cNvSpPr/>
          <p:nvPr/>
        </p:nvSpPr>
        <p:spPr>
          <a:xfrm>
            <a:off x="4590288" y="18288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frontend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590288" y="2322576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Node 20 + npm ci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tsc --noEmit type check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npm run build + artifact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8138160" y="1664208"/>
            <a:ext cx="3493008" cy="1737360"/>
          </a:xfrm>
          <a:prstGeom prst="roundRect">
            <a:avLst>
              <a:gd name="adj" fmla="val 4737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  <a:effectLst>
            <a:outerShdw sx="100000" sy="100000" kx="0" ky="0" algn="bl" rotWithShape="0" blurRad="127000" dist="25400" dir="5400000">
              <a:srgbClr val="0B1F2A">
                <a:alpha val="1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375904" y="1828800"/>
            <a:ext cx="1572768" cy="365760"/>
          </a:xfrm>
          <a:prstGeom prst="roundRect">
            <a:avLst>
              <a:gd name="adj" fmla="val 50000"/>
            </a:avLst>
          </a:prstGeom>
          <a:solidFill>
            <a:srgbClr val="0F766E"/>
          </a:solidFill>
          <a:ln/>
        </p:spPr>
      </p:sp>
      <p:sp>
        <p:nvSpPr>
          <p:cNvPr id="15" name="Text 13"/>
          <p:cNvSpPr/>
          <p:nvPr/>
        </p:nvSpPr>
        <p:spPr>
          <a:xfrm>
            <a:off x="8375904" y="1828800"/>
            <a:ext cx="157276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docker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8375904" y="2322576"/>
            <a:ext cx="301752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after both jobs pass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backend and frontend images</a:t>
            </a:r>
            <a:endParaRPr lang="en-US" sz="11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GHA layer caching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547872"/>
            <a:ext cx="11055096" cy="749808"/>
          </a:xfrm>
          <a:prstGeom prst="roundRect">
            <a:avLst>
              <a:gd name="adj" fmla="val 9756"/>
            </a:avLst>
          </a:prstGeom>
          <a:solidFill>
            <a:srgbClr val="F2F6F5"/>
          </a:solidFill>
          <a:ln w="15875">
            <a:solidFill>
              <a:srgbClr val="14B8A6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41248" y="3547872"/>
            <a:ext cx="1050645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secrets required. </a:t>
            </a:r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Tests use a throwaway MongoDB database and empty AI keys, so the copilot exercises its deterministic fallback. Ruff 0.16 widened its default rules and turned a passing check into 140 errors — so the rule set and version are pinned.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566928" y="4443984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Containerisation</a:t>
            </a:r>
            <a:endParaRPr lang="en-US" sz="1600" dirty="0"/>
          </a:p>
        </p:txBody>
      </p:sp>
      <p:graphicFrame>
        <p:nvGraphicFramePr>
          <p:cNvPr id="3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4773168"/>
          <a:ext cx="11055096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9592056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Build strategy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Multi-stage python:3.12-slim · non-root user · HEALTHCHECK · indexes created at startup (no migrations)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Frontend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node:20-alpine build → nginx:1.27-alpine serve · SPA fallback · /api/ reverse proxy · gzip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Compose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mongo:8.0 with health check + named volume · backend waits for healthy MongoDB · prod override enables auth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Image hygiene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.env, local databases and virtualenvs excluded via .dockerignore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21" name="Text 18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22" name="Text 19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29</a:t>
            </a:r>
            <a:endParaRPr lang="en-US" sz="9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Results summary</a:t>
            </a:r>
            <a:endParaRPr lang="en-US" sz="3000" dirty="0"/>
          </a:p>
        </p:txBody>
      </p:sp>
      <p:graphicFrame>
        <p:nvGraphicFramePr>
          <p:cNvPr id="3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44752"/>
          <a:ext cx="11055096" cy="914400"/>
        </p:xfrm>
        <a:graphic>
          <a:graphicData uri="http://schemas.openxmlformats.org/drawingml/2006/table">
            <a:tbl>
              <a:tblPr/>
              <a:tblGrid>
                <a:gridCol w="2377440"/>
                <a:gridCol w="8677656"/>
              </a:tblGrid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Area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Outcome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Algorithms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16 implemented across security, ingestion, analytics, planning and AI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analytics run as indexed aggregation pipelines inside MongoDB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Correctness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Exact decimal arithmetic end to end; allocations always sum to income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Argon2id, JWT with revocation, rate limiting, per-user data isolation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AI grounding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Figures only from real pipeline results — and every question gets an answer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Testing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143 automated tests passing; 23 real defects found and fixed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gates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ruff, tsc --noEmit, production build, axe and contrast checks all clean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319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Deployment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Dockerised and CI-verified on every push</a:t>
                      </a:r>
                      <a:endParaRPr lang="en-US" sz="12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66928" y="5138928"/>
            <a:ext cx="11055096" cy="731520"/>
          </a:xfrm>
          <a:prstGeom prst="roundRect">
            <a:avLst>
              <a:gd name="adj" fmla="val 10000"/>
            </a:avLst>
          </a:prstGeom>
          <a:solidFill>
            <a:srgbClr val="0B1F2A"/>
          </a:solidFill>
          <a:ln/>
        </p:spPr>
      </p:sp>
      <p:sp>
        <p:nvSpPr>
          <p:cNvPr id="6" name="Text 3"/>
          <p:cNvSpPr/>
          <p:nvPr/>
        </p:nvSpPr>
        <p:spPr>
          <a:xfrm>
            <a:off x="859536" y="5138928"/>
            <a:ext cx="104698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the application displays is computed from the user's own transactions.</a:t>
            </a:r>
            <a:endParaRPr lang="en-US" sz="1450" dirty="0"/>
          </a:p>
        </p:txBody>
      </p:sp>
      <p:sp>
        <p:nvSpPr>
          <p:cNvPr id="7" name="Text 4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</a:t>
            </a:r>
            <a:endParaRPr lang="en-US" sz="90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384048"/>
            <a:ext cx="11055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60" kern="0" dirty="0">
                <a:solidFill>
                  <a:srgbClr val="0F766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REFLECTION</a:t>
            </a:r>
            <a:endParaRPr lang="en-US" sz="1150" dirty="0"/>
          </a:p>
        </p:txBody>
      </p:sp>
      <p:sp>
        <p:nvSpPr>
          <p:cNvPr id="3" name="Text 1"/>
          <p:cNvSpPr/>
          <p:nvPr/>
        </p:nvSpPr>
        <p:spPr>
          <a:xfrm>
            <a:off x="566928" y="658368"/>
            <a:ext cx="11055096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Challenges and learnings</a:t>
            </a:r>
            <a:endParaRPr lang="en-US" sz="3000" dirty="0"/>
          </a:p>
        </p:txBody>
      </p:sp>
      <p:graphicFrame>
        <p:nvGraphicFramePr>
          <p:cNvPr id="3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66928" y="1426464"/>
          <a:ext cx="11055096" cy="914400"/>
        </p:xfrm>
        <a:graphic>
          <a:graphicData uri="http://schemas.openxmlformats.org/drawingml/2006/table">
            <a:tbl>
              <a:tblPr/>
              <a:tblGrid>
                <a:gridCol w="3200400"/>
                <a:gridCol w="3383280"/>
                <a:gridCol w="4471416"/>
              </a:tblGrid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Challenge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Resolution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Learning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F766E"/>
                    </a:solidFill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Numbers wrong without any error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regression test for every numerical defect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"It runs" is not "it is correct" — check the arithmetic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SQL → MongoDB migration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Same API, integer ids, Decimal codec; tests re-run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stable interface makes a migration invisible to users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Decimal at every boundary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Codec at the driver, float only in JSON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Type systems end at serialisation layers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LLMs hallucinate figures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Mandatory tool calling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Constrain the model's inputs rather than trusting its output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Provider quirks (tool_choice ignored)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 tools on the final request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Test against the real API, not only mocks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206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Silent HTML form validation failure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step="1" on money inputs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5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Absence of an error is not evidence of correctness</a:t>
                      </a:r>
                      <a:endParaRPr lang="en-US" sz="11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54864" marR="54864" marT="54864" marB="54864" anchor="ctr">
                    <a:lnL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4ED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566928" y="4663440"/>
            <a:ext cx="110550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Future enhancements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566928" y="5029200"/>
            <a:ext cx="3520440" cy="329184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94944" y="5029200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Bank API integration (account aggregator)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4279392" y="5029200"/>
            <a:ext cx="3520440" cy="329184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4407408" y="5029200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categorisation over the rule-based baseline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7991856" y="5029200"/>
            <a:ext cx="3520440" cy="329184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8119872" y="5029200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Goal-based planning with timelines</a:t>
            </a:r>
            <a:endParaRPr lang="en-US" sz="1050" dirty="0"/>
          </a:p>
        </p:txBody>
      </p:sp>
      <p:sp>
        <p:nvSpPr>
          <p:cNvPr id="12" name="Shape 9"/>
          <p:cNvSpPr/>
          <p:nvPr/>
        </p:nvSpPr>
        <p:spPr>
          <a:xfrm>
            <a:off x="566928" y="5449824"/>
            <a:ext cx="3520440" cy="329184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94944" y="5449824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Multi-currency support</a:t>
            </a:r>
            <a:endParaRPr lang="en-US" sz="1050" dirty="0"/>
          </a:p>
        </p:txBody>
      </p:sp>
      <p:sp>
        <p:nvSpPr>
          <p:cNvPr id="14" name="Shape 11"/>
          <p:cNvSpPr/>
          <p:nvPr/>
        </p:nvSpPr>
        <p:spPr>
          <a:xfrm>
            <a:off x="4279392" y="5449824"/>
            <a:ext cx="3520440" cy="329184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15" name="Text 12"/>
          <p:cNvSpPr/>
          <p:nvPr/>
        </p:nvSpPr>
        <p:spPr>
          <a:xfrm>
            <a:off x="4407408" y="5449824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React Native mobile app</a:t>
            </a:r>
            <a:endParaRPr lang="en-US" sz="1050" dirty="0"/>
          </a:p>
        </p:txBody>
      </p:sp>
      <p:sp>
        <p:nvSpPr>
          <p:cNvPr id="16" name="Shape 13"/>
          <p:cNvSpPr/>
          <p:nvPr/>
        </p:nvSpPr>
        <p:spPr>
          <a:xfrm>
            <a:off x="7991856" y="5449824"/>
            <a:ext cx="3520440" cy="329184"/>
          </a:xfrm>
          <a:prstGeom prst="roundRect">
            <a:avLst>
              <a:gd name="adj" fmla="val 50000"/>
            </a:avLst>
          </a:prstGeom>
          <a:solidFill>
            <a:srgbClr val="F2F6F5"/>
          </a:solidFill>
          <a:ln w="12700">
            <a:solidFill>
              <a:srgbClr val="E4EDEB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8119872" y="5449824"/>
            <a:ext cx="326440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Redis distributed rate limiting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66928" y="6419088"/>
            <a:ext cx="36576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FinFlow AI  ·  Review 3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11073384" y="641908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9AA9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</a:t>
            </a:r>
            <a:endParaRPr lang="en-US" sz="9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B1F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811512" y="4572000"/>
            <a:ext cx="3291840" cy="3291840"/>
          </a:xfrm>
          <a:prstGeom prst="ellipse">
            <a:avLst/>
          </a:prstGeom>
          <a:solidFill>
            <a:srgbClr val="0F766E">
              <a:alpha val="18000"/>
            </a:srgbClr>
          </a:solidFill>
          <a:ln w="12700">
            <a:solidFill>
              <a:srgbClr val="0F766E">
                <a:alpha val="3000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451592" y="5212080"/>
            <a:ext cx="2011680" cy="2011680"/>
          </a:xfrm>
          <a:prstGeom prst="ellipse">
            <a:avLst/>
          </a:prstGeom>
          <a:solidFill>
            <a:srgbClr val="14B8A6">
              <a:alpha val="12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566928" y="777240"/>
            <a:ext cx="110550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spc="260" kern="0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</a:t>
            </a:r>
            <a:endParaRPr lang="en-US" sz="1250" dirty="0"/>
          </a:p>
        </p:txBody>
      </p:sp>
      <p:sp>
        <p:nvSpPr>
          <p:cNvPr id="5" name="Text 3"/>
          <p:cNvSpPr/>
          <p:nvPr/>
        </p:nvSpPr>
        <p:spPr>
          <a:xfrm>
            <a:off x="566928" y="1097280"/>
            <a:ext cx="11055096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FinFlow AI</a:t>
            </a:r>
            <a:endParaRPr lang="en-US" sz="4000" dirty="0"/>
          </a:p>
        </p:txBody>
      </p:sp>
      <p:sp>
        <p:nvSpPr>
          <p:cNvPr id="6" name="Shape 4"/>
          <p:cNvSpPr/>
          <p:nvPr/>
        </p:nvSpPr>
        <p:spPr>
          <a:xfrm>
            <a:off x="566928" y="2103120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103120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1097280" y="2066544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ingestion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3995928" y="2066544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Parsing, categorisation, duplicate detection and income derivation remove manual entry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66928" y="2706624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706624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1097280" y="2670048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Efficient analytics</a:t>
            </a:r>
            <a:endParaRPr lang="en-US" sz="1350" dirty="0"/>
          </a:p>
        </p:txBody>
      </p:sp>
      <p:sp>
        <p:nvSpPr>
          <p:cNvPr id="13" name="Text 11"/>
          <p:cNvSpPr/>
          <p:nvPr/>
        </p:nvSpPr>
        <p:spPr>
          <a:xfrm>
            <a:off x="3995928" y="2670048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Aggregation pipelines inside MongoDB instead of in-memory computation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566928" y="3310128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5" name="Text 13"/>
          <p:cNvSpPr/>
          <p:nvPr/>
        </p:nvSpPr>
        <p:spPr>
          <a:xfrm>
            <a:off x="566928" y="3310128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1097280" y="3273552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planning</a:t>
            </a:r>
            <a:endParaRPr lang="en-US" sz="1350" dirty="0"/>
          </a:p>
        </p:txBody>
      </p:sp>
      <p:sp>
        <p:nvSpPr>
          <p:cNvPr id="17" name="Text 15"/>
          <p:cNvSpPr/>
          <p:nvPr/>
        </p:nvSpPr>
        <p:spPr>
          <a:xfrm>
            <a:off x="3995928" y="3273552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Avalanche prioritisation and a salary waterfall that cannot over-allocate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566928" y="3913632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19" name="Text 17"/>
          <p:cNvSpPr/>
          <p:nvPr/>
        </p:nvSpPr>
        <p:spPr>
          <a:xfrm>
            <a:off x="566928" y="3913632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1097280" y="3877056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Grounded AI</a:t>
            </a:r>
            <a:endParaRPr lang="en-US" sz="1350" dirty="0"/>
          </a:p>
        </p:txBody>
      </p:sp>
      <p:sp>
        <p:nvSpPr>
          <p:cNvPr id="21" name="Text 19"/>
          <p:cNvSpPr/>
          <p:nvPr/>
        </p:nvSpPr>
        <p:spPr>
          <a:xfrm>
            <a:off x="3995928" y="3877056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Figures only from real data — and every question gets an answer</a:t>
            </a:r>
            <a:endParaRPr lang="en-US" sz="1250" dirty="0"/>
          </a:p>
        </p:txBody>
      </p:sp>
      <p:sp>
        <p:nvSpPr>
          <p:cNvPr id="22" name="Shape 20"/>
          <p:cNvSpPr/>
          <p:nvPr/>
        </p:nvSpPr>
        <p:spPr>
          <a:xfrm>
            <a:off x="566928" y="4517136"/>
            <a:ext cx="347472" cy="347472"/>
          </a:xfrm>
          <a:prstGeom prst="ellipse">
            <a:avLst/>
          </a:prstGeom>
          <a:solidFill>
            <a:srgbClr val="14B8A6"/>
          </a:solidFill>
          <a:ln/>
        </p:spPr>
      </p:sp>
      <p:sp>
        <p:nvSpPr>
          <p:cNvPr id="23" name="Text 21"/>
          <p:cNvSpPr/>
          <p:nvPr/>
        </p:nvSpPr>
        <p:spPr>
          <a:xfrm>
            <a:off x="566928" y="4517136"/>
            <a:ext cx="347472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B1F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1097280" y="4480560"/>
            <a:ext cx="2834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4B8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Verified quality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3995928" y="4480560"/>
            <a:ext cx="7498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4D5D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143 automated tests, CI/CD, and 23 documented defects found and fixed</a:t>
            </a:r>
            <a:endParaRPr lang="en-US" sz="1250" dirty="0"/>
          </a:p>
        </p:txBody>
      </p:sp>
      <p:sp>
        <p:nvSpPr>
          <p:cNvPr id="26" name="Shape 24"/>
          <p:cNvSpPr/>
          <p:nvPr/>
        </p:nvSpPr>
        <p:spPr>
          <a:xfrm>
            <a:off x="566928" y="5321808"/>
            <a:ext cx="1371600" cy="25603"/>
          </a:xfrm>
          <a:prstGeom prst="rect">
            <a:avLst/>
          </a:prstGeom>
          <a:solidFill>
            <a:srgbClr val="14B8A6"/>
          </a:solidFill>
          <a:ln/>
        </p:spPr>
      </p:sp>
      <p:sp>
        <p:nvSpPr>
          <p:cNvPr id="27" name="Text 25"/>
          <p:cNvSpPr/>
          <p:nvPr/>
        </p:nvSpPr>
        <p:spPr>
          <a:xfrm>
            <a:off x="566928" y="5504688"/>
            <a:ext cx="10058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i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figure the application displays is computed from the user's own transactions.</a:t>
            </a:r>
            <a:endParaRPr lang="en-US" sz="1700" dirty="0"/>
          </a:p>
        </p:txBody>
      </p:sp>
      <p:sp>
        <p:nvSpPr>
          <p:cNvPr id="28" name="Text 26"/>
          <p:cNvSpPr/>
          <p:nvPr/>
        </p:nvSpPr>
        <p:spPr>
          <a:xfrm>
            <a:off x="566928" y="6016752"/>
            <a:ext cx="54864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FA6B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32</Slides>
  <Notes>32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FinFlow AI — Review 3</dc:title>
  <dc:subject>PptxGenJS Presentation</dc:subject>
  <dc:creator>Kuppili Nikhilesh Raju</dc:creator>
  <cp:lastModifiedBy>Kuppili Nikhilesh Raju</cp:lastModifiedBy>
  <cp:revision>1</cp:revision>
  <dcterms:created xsi:type="dcterms:W3CDTF">2026-09-14T17:20:02Z</dcterms:created>
  <dcterms:modified xsi:type="dcterms:W3CDTF">2026-09-14T17:20:02Z</dcterms:modified>
</cp:coreProperties>
</file>